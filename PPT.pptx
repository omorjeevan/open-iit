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61" r:id="rId6"/>
    <p:sldId id="262" r:id="rId7"/>
    <p:sldId id="269" r:id="rId8"/>
    <p:sldId id="263" r:id="rId9"/>
    <p:sldId id="264" r:id="rId10"/>
    <p:sldId id="266" r:id="rId11"/>
    <p:sldId id="267" r:id="rId12"/>
    <p:sldId id="270" r:id="rId13"/>
  </p:sldIdLst>
  <p:sldSz cx="18288000" cy="10287000"/>
  <p:notesSz cx="6858000" cy="9144000"/>
  <p:embeddedFontLst>
    <p:embeddedFont>
      <p:font typeface="Bahnschrift Condensed" panose="020B0502040204020203" pitchFamily="34" charset="0"/>
      <p:regular r:id="rId15"/>
      <p:bold r:id="rId16"/>
    </p:embeddedFont>
    <p:embeddedFont>
      <p:font typeface="Baskerville Old Face" panose="02020602080505020303" pitchFamily="18" charset="0"/>
      <p:regular r:id="rId17"/>
    </p:embeddedFont>
    <p:embeddedFont>
      <p:font typeface="Bauhaus 93" panose="04030905020B02020C02" pitchFamily="82" charset="0"/>
      <p:regular r:id="rId18"/>
    </p:embeddedFont>
    <p:embeddedFont>
      <p:font typeface="Cambria Math" panose="02040503050406030204" pitchFamily="18" charset="0"/>
      <p:regular r:id="rId19"/>
    </p:embeddedFont>
    <p:embeddedFont>
      <p:font typeface="Palatino Linotype" panose="02040502050505030304" pitchFamily="18" charset="0"/>
      <p:regular r:id="rId20"/>
      <p:bold r:id="rId21"/>
      <p:italic r:id="rId22"/>
      <p:boldItalic r:id="rId23"/>
    </p:embeddedFont>
    <p:embeddedFont>
      <p:font typeface="Poppins" panose="00000500000000000000" pitchFamily="2" charset="0"/>
      <p:regular r:id="rId24"/>
      <p:bold r:id="rId25"/>
    </p:embeddedFont>
    <p:embeddedFont>
      <p:font typeface="Poppins Bold" panose="00000800000000000000" charset="0"/>
      <p:regular r:id="rId26"/>
      <p:bold r:id="rId27"/>
    </p:embeddedFont>
    <p:embeddedFont>
      <p:font typeface="Poppins Heavy" panose="020B0604020202020204" charset="0"/>
      <p:regular r:id="rId28"/>
    </p:embeddedFont>
    <p:embeddedFont>
      <p:font typeface="Showcard Gothic" panose="04020904020102020604" pitchFamily="82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691BC8-7E21-4622-BA21-BC4A0C1D8999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24174B-47F9-49A7-A8AA-92C9C4EAC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362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24174B-47F9-49A7-A8AA-92C9C4EACC4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102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51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D8C8D1BC-B00D-1F94-0CE8-1160C765CF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1971" y="5143500"/>
            <a:ext cx="8143875" cy="542925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521946" y="2095500"/>
            <a:ext cx="16687800" cy="33436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232"/>
              </a:lnSpc>
            </a:pPr>
            <a:r>
              <a:rPr lang="en-US" sz="30976" b="1" spc="-2664" dirty="0">
                <a:solidFill>
                  <a:srgbClr val="EEEEEE"/>
                </a:solidFill>
                <a:latin typeface="Poppins Heavy"/>
                <a:ea typeface="Poppins Heavy"/>
                <a:cs typeface="Poppins Heavy"/>
                <a:sym typeface="Poppins Heavy"/>
              </a:rPr>
              <a:t>O P E N    I I T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14400" y="772450"/>
            <a:ext cx="5981700" cy="354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spc="-42" dirty="0">
                <a:solidFill>
                  <a:srgbClr val="EEEEEE"/>
                </a:solidFill>
                <a:latin typeface="Poppins"/>
                <a:ea typeface="Poppins"/>
                <a:cs typeface="Poppins"/>
                <a:sym typeface="Poppins"/>
              </a:rPr>
              <a:t>INDIAN INSTITUE OF TECHNOLOGY, KHARAGPUR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975885" y="710506"/>
            <a:ext cx="3233861" cy="354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EEEEEE"/>
                </a:solidFill>
                <a:latin typeface="Poppins"/>
                <a:ea typeface="Poppins"/>
                <a:cs typeface="Poppins"/>
                <a:sym typeface="Poppins"/>
              </a:rPr>
              <a:t>October 11, 2026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844983" y="8509816"/>
            <a:ext cx="4384820" cy="3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400" spc="-42" dirty="0">
                <a:solidFill>
                  <a:srgbClr val="EEEEEE"/>
                </a:solidFill>
                <a:latin typeface="Poppins"/>
                <a:ea typeface="Poppins"/>
                <a:cs typeface="Poppins"/>
                <a:sym typeface="Poppins"/>
              </a:rPr>
              <a:t>IN ASSOCIATED WITH perfios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4054113"/>
            <a:ext cx="5219700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232"/>
              </a:lnSpc>
            </a:pPr>
            <a:r>
              <a:rPr lang="en-US" sz="15000" b="1" spc="-2664" dirty="0">
                <a:solidFill>
                  <a:srgbClr val="EEEEEE"/>
                </a:solidFill>
                <a:latin typeface="Poppins Heavy"/>
                <a:ea typeface="Poppins Heavy"/>
                <a:cs typeface="Poppins Heavy"/>
                <a:sym typeface="Poppins Heavy"/>
              </a:rPr>
              <a:t>DATA                                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943600" y="5989446"/>
            <a:ext cx="10922157" cy="8367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080"/>
              </a:lnSpc>
              <a:spcBef>
                <a:spcPct val="0"/>
              </a:spcBef>
            </a:pPr>
            <a:r>
              <a:rPr lang="en-US" sz="15000" dirty="0">
                <a:solidFill>
                  <a:srgbClr val="F0F0F0"/>
                </a:solidFill>
                <a:latin typeface="Poppins"/>
                <a:ea typeface="Poppins"/>
                <a:cs typeface="Poppins"/>
                <a:sym typeface="Poppins"/>
              </a:rPr>
              <a:t>ANALYTICS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093778" y="8678794"/>
            <a:ext cx="4126422" cy="579506"/>
            <a:chOff x="0" y="0"/>
            <a:chExt cx="1308792" cy="2064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8792" cy="206428"/>
            </a:xfrm>
            <a:custGeom>
              <a:avLst/>
              <a:gdLst/>
              <a:ahLst/>
              <a:cxnLst/>
              <a:rect l="l" t="t" r="r" b="b"/>
              <a:pathLst>
                <a:path w="1308792" h="206428">
                  <a:moveTo>
                    <a:pt x="0" y="0"/>
                  </a:moveTo>
                  <a:lnTo>
                    <a:pt x="1308792" y="0"/>
                  </a:lnTo>
                  <a:lnTo>
                    <a:pt x="1308792" y="206428"/>
                  </a:lnTo>
                  <a:lnTo>
                    <a:pt x="0" y="206428"/>
                  </a:lnTo>
                  <a:close/>
                </a:path>
              </a:pathLst>
            </a:custGeom>
            <a:solidFill>
              <a:srgbClr val="C5172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1308792" cy="282628"/>
            </a:xfrm>
            <a:prstGeom prst="rect">
              <a:avLst/>
            </a:prstGeom>
          </p:spPr>
          <p:txBody>
            <a:bodyPr lIns="37560" tIns="37560" rIns="37560" bIns="3756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468322" y="8754583"/>
            <a:ext cx="292508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Value-of-Information (VoI) Skip-Trace Optimization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37794" y="8678794"/>
            <a:ext cx="4317726" cy="579506"/>
            <a:chOff x="0" y="0"/>
            <a:chExt cx="1308792" cy="20642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08792" cy="206428"/>
            </a:xfrm>
            <a:custGeom>
              <a:avLst/>
              <a:gdLst/>
              <a:ahLst/>
              <a:cxnLst/>
              <a:rect l="l" t="t" r="r" b="b"/>
              <a:pathLst>
                <a:path w="1308792" h="206428">
                  <a:moveTo>
                    <a:pt x="0" y="0"/>
                  </a:moveTo>
                  <a:lnTo>
                    <a:pt x="1308792" y="0"/>
                  </a:lnTo>
                  <a:lnTo>
                    <a:pt x="1308792" y="206428"/>
                  </a:lnTo>
                  <a:lnTo>
                    <a:pt x="0" y="206428"/>
                  </a:lnTo>
                  <a:close/>
                </a:path>
              </a:pathLst>
            </a:custGeom>
            <a:solidFill>
              <a:srgbClr val="16161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76200"/>
              <a:ext cx="1308792" cy="282628"/>
            </a:xfrm>
            <a:prstGeom prst="rect">
              <a:avLst/>
            </a:prstGeom>
          </p:spPr>
          <p:txBody>
            <a:bodyPr lIns="37560" tIns="37560" rIns="37560" bIns="3756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394403" y="8754583"/>
            <a:ext cx="2942766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Policy Engine &amp; Multi-Channel Operations (Tele &amp; Field)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392444" y="8678794"/>
            <a:ext cx="3674171" cy="579506"/>
            <a:chOff x="0" y="0"/>
            <a:chExt cx="1308792" cy="20642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08792" cy="206428"/>
            </a:xfrm>
            <a:custGeom>
              <a:avLst/>
              <a:gdLst/>
              <a:ahLst/>
              <a:cxnLst/>
              <a:rect l="l" t="t" r="r" b="b"/>
              <a:pathLst>
                <a:path w="1308792" h="206428">
                  <a:moveTo>
                    <a:pt x="0" y="0"/>
                  </a:moveTo>
                  <a:lnTo>
                    <a:pt x="1308792" y="0"/>
                  </a:lnTo>
                  <a:lnTo>
                    <a:pt x="1308792" y="206428"/>
                  </a:lnTo>
                  <a:lnTo>
                    <a:pt x="0" y="206428"/>
                  </a:lnTo>
                  <a:close/>
                </a:path>
              </a:pathLst>
            </a:custGeom>
            <a:solidFill>
              <a:srgbClr val="16161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76200"/>
              <a:ext cx="1308792" cy="282628"/>
            </a:xfrm>
            <a:prstGeom prst="rect">
              <a:avLst/>
            </a:prstGeom>
          </p:spPr>
          <p:txBody>
            <a:bodyPr lIns="37560" tIns="37560" rIns="37560" bIns="3756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9766988" y="8754583"/>
            <a:ext cx="292508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Benchmark Results, Financial ROI &amp; Regulatory Impact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37793" y="7962574"/>
            <a:ext cx="4317727" cy="659072"/>
            <a:chOff x="0" y="0"/>
            <a:chExt cx="1308792" cy="20642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08792" cy="206428"/>
            </a:xfrm>
            <a:custGeom>
              <a:avLst/>
              <a:gdLst/>
              <a:ahLst/>
              <a:cxnLst/>
              <a:rect l="l" t="t" r="r" b="b"/>
              <a:pathLst>
                <a:path w="1308792" h="206428">
                  <a:moveTo>
                    <a:pt x="0" y="0"/>
                  </a:moveTo>
                  <a:lnTo>
                    <a:pt x="1308792" y="0"/>
                  </a:lnTo>
                  <a:lnTo>
                    <a:pt x="1308792" y="206428"/>
                  </a:lnTo>
                  <a:lnTo>
                    <a:pt x="0" y="206428"/>
                  </a:lnTo>
                  <a:close/>
                </a:path>
              </a:pathLst>
            </a:custGeom>
            <a:solidFill>
              <a:srgbClr val="C5172E"/>
            </a:solidFill>
          </p:spPr>
          <p:txBody>
            <a:bodyPr/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Model Selection &amp; Counterfactual Debiasing (IPW)</a:t>
              </a:r>
            </a:p>
            <a:p>
              <a:endParaRPr lang="en-US" dirty="0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76200"/>
              <a:ext cx="1308792" cy="282628"/>
            </a:xfrm>
            <a:prstGeom prst="rect">
              <a:avLst/>
            </a:prstGeom>
          </p:spPr>
          <p:txBody>
            <a:bodyPr lIns="37560" tIns="37560" rIns="37560" bIns="3756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392444" y="7962574"/>
            <a:ext cx="3674171" cy="659072"/>
            <a:chOff x="0" y="0"/>
            <a:chExt cx="1308792" cy="20642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08792" cy="206428"/>
            </a:xfrm>
            <a:custGeom>
              <a:avLst/>
              <a:gdLst/>
              <a:ahLst/>
              <a:cxnLst/>
              <a:rect l="l" t="t" r="r" b="b"/>
              <a:pathLst>
                <a:path w="1308792" h="206428">
                  <a:moveTo>
                    <a:pt x="0" y="0"/>
                  </a:moveTo>
                  <a:lnTo>
                    <a:pt x="1308792" y="0"/>
                  </a:lnTo>
                  <a:lnTo>
                    <a:pt x="1308792" y="206428"/>
                  </a:lnTo>
                  <a:lnTo>
                    <a:pt x="0" y="206428"/>
                  </a:lnTo>
                  <a:close/>
                </a:path>
              </a:pathLst>
            </a:custGeom>
            <a:solidFill>
              <a:srgbClr val="C5172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76200"/>
              <a:ext cx="1308792" cy="282628"/>
            </a:xfrm>
            <a:prstGeom prst="rect">
              <a:avLst/>
            </a:prstGeom>
          </p:spPr>
          <p:txBody>
            <a:bodyPr lIns="37560" tIns="37560" rIns="37560" bIns="3756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9766988" y="8038364"/>
            <a:ext cx="292508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Model Evaluation, AUC &amp; Calibration Curves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5093778" y="7962574"/>
            <a:ext cx="4126422" cy="659072"/>
            <a:chOff x="0" y="0"/>
            <a:chExt cx="1308792" cy="20642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308792" cy="206428"/>
            </a:xfrm>
            <a:custGeom>
              <a:avLst/>
              <a:gdLst/>
              <a:ahLst/>
              <a:cxnLst/>
              <a:rect l="l" t="t" r="r" b="b"/>
              <a:pathLst>
                <a:path w="1308792" h="206428">
                  <a:moveTo>
                    <a:pt x="0" y="0"/>
                  </a:moveTo>
                  <a:lnTo>
                    <a:pt x="1308792" y="0"/>
                  </a:lnTo>
                  <a:lnTo>
                    <a:pt x="1308792" y="206428"/>
                  </a:lnTo>
                  <a:lnTo>
                    <a:pt x="0" y="206428"/>
                  </a:lnTo>
                  <a:close/>
                </a:path>
              </a:pathLst>
            </a:custGeom>
            <a:solidFill>
              <a:srgbClr val="161616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76200"/>
              <a:ext cx="1308792" cy="282628"/>
            </a:xfrm>
            <a:prstGeom prst="rect">
              <a:avLst/>
            </a:prstGeom>
          </p:spPr>
          <p:txBody>
            <a:bodyPr lIns="37560" tIns="37560" rIns="37560" bIns="3756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5468322" y="8038364"/>
            <a:ext cx="292508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Hyperparameter Tuning &amp; Probability Calibration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5093779" y="7217781"/>
            <a:ext cx="4126422" cy="659070"/>
            <a:chOff x="0" y="0"/>
            <a:chExt cx="1308792" cy="20642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308792" cy="206428"/>
            </a:xfrm>
            <a:custGeom>
              <a:avLst/>
              <a:gdLst/>
              <a:ahLst/>
              <a:cxnLst/>
              <a:rect l="l" t="t" r="r" b="b"/>
              <a:pathLst>
                <a:path w="1308792" h="206428">
                  <a:moveTo>
                    <a:pt x="0" y="0"/>
                  </a:moveTo>
                  <a:lnTo>
                    <a:pt x="1308792" y="0"/>
                  </a:lnTo>
                  <a:lnTo>
                    <a:pt x="1308792" y="206428"/>
                  </a:lnTo>
                  <a:lnTo>
                    <a:pt x="0" y="206428"/>
                  </a:lnTo>
                  <a:close/>
                </a:path>
              </a:pathLst>
            </a:custGeom>
            <a:solidFill>
              <a:srgbClr val="C5172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76200"/>
              <a:ext cx="1308792" cy="282628"/>
            </a:xfrm>
            <a:prstGeom prst="rect">
              <a:avLst/>
            </a:prstGeom>
          </p:spPr>
          <p:txBody>
            <a:bodyPr lIns="37560" tIns="37560" rIns="37560" bIns="3756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5269631" y="7412997"/>
            <a:ext cx="3874370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Solution Architecture &amp; Decoupled Thought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637793" y="7217780"/>
            <a:ext cx="4317728" cy="659071"/>
            <a:chOff x="0" y="0"/>
            <a:chExt cx="1308792" cy="20642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308792" cy="206428"/>
            </a:xfrm>
            <a:custGeom>
              <a:avLst/>
              <a:gdLst/>
              <a:ahLst/>
              <a:cxnLst/>
              <a:rect l="l" t="t" r="r" b="b"/>
              <a:pathLst>
                <a:path w="1308792" h="206428">
                  <a:moveTo>
                    <a:pt x="0" y="0"/>
                  </a:moveTo>
                  <a:lnTo>
                    <a:pt x="1308792" y="0"/>
                  </a:lnTo>
                  <a:lnTo>
                    <a:pt x="1308792" y="206428"/>
                  </a:lnTo>
                  <a:lnTo>
                    <a:pt x="0" y="206428"/>
                  </a:lnTo>
                  <a:close/>
                </a:path>
              </a:pathLst>
            </a:custGeom>
            <a:solidFill>
              <a:srgbClr val="16161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76200"/>
              <a:ext cx="1308792" cy="282628"/>
            </a:xfrm>
            <a:prstGeom prst="rect">
              <a:avLst/>
            </a:prstGeom>
          </p:spPr>
          <p:txBody>
            <a:bodyPr lIns="37560" tIns="37560" rIns="37560" bIns="3756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768370" y="7392807"/>
            <a:ext cx="3975446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Problem Statement &amp; Collections Reality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9392444" y="7246355"/>
            <a:ext cx="3674171" cy="630496"/>
            <a:chOff x="0" y="0"/>
            <a:chExt cx="1308792" cy="20642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308792" cy="206428"/>
            </a:xfrm>
            <a:custGeom>
              <a:avLst/>
              <a:gdLst/>
              <a:ahLst/>
              <a:cxnLst/>
              <a:rect l="l" t="t" r="r" b="b"/>
              <a:pathLst>
                <a:path w="1308792" h="206428">
                  <a:moveTo>
                    <a:pt x="0" y="0"/>
                  </a:moveTo>
                  <a:lnTo>
                    <a:pt x="1308792" y="0"/>
                  </a:lnTo>
                  <a:lnTo>
                    <a:pt x="1308792" y="206428"/>
                  </a:lnTo>
                  <a:lnTo>
                    <a:pt x="0" y="206428"/>
                  </a:lnTo>
                  <a:close/>
                </a:path>
              </a:pathLst>
            </a:custGeom>
            <a:solidFill>
              <a:srgbClr val="161616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76200"/>
              <a:ext cx="1308792" cy="282628"/>
            </a:xfrm>
            <a:prstGeom prst="rect">
              <a:avLst/>
            </a:prstGeom>
          </p:spPr>
          <p:txBody>
            <a:bodyPr lIns="37560" tIns="37560" rIns="37560" bIns="3756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9766988" y="7322144"/>
            <a:ext cx="292508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Pre-Contact Feature Engineering (No-Leakage)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28700" y="1170535"/>
            <a:ext cx="9605906" cy="2145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58"/>
              </a:lnSpc>
            </a:pPr>
            <a:r>
              <a:rPr lang="en-US" sz="17022" b="1" spc="-1463" dirty="0">
                <a:solidFill>
                  <a:srgbClr val="161616"/>
                </a:solidFill>
                <a:latin typeface="Poppins Heavy"/>
                <a:ea typeface="Poppins Heavy"/>
                <a:cs typeface="Poppins Heavy"/>
                <a:sym typeface="Poppins Heavy"/>
              </a:rPr>
              <a:t>TABLE OF 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28700" y="2959925"/>
            <a:ext cx="9605906" cy="2145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58"/>
              </a:lnSpc>
            </a:pPr>
            <a:r>
              <a:rPr lang="en-US" sz="17022" b="1" spc="-1463">
                <a:solidFill>
                  <a:srgbClr val="C5172E"/>
                </a:solidFill>
                <a:latin typeface="Poppins Heavy"/>
                <a:ea typeface="Poppins Heavy"/>
                <a:cs typeface="Poppins Heavy"/>
                <a:sym typeface="Poppins Heavy"/>
              </a:rPr>
              <a:t>CONTENT</a:t>
            </a: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CF630D6-EAE9-41D5-EAB2-E89C2D009F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72800" y="110037"/>
            <a:ext cx="4762500" cy="4762500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3" grpId="0"/>
      <p:bldP spid="20" grpId="0"/>
      <p:bldP spid="24" grpId="0"/>
      <p:bldP spid="29" grpId="0"/>
      <p:bldP spid="33" grpId="0"/>
      <p:bldP spid="37" grpId="0"/>
      <p:bldP spid="38" grpId="0"/>
      <p:bldP spid="3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6A1D076E-A1B2-875A-74BF-41E4407F5B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63450" y="4610100"/>
            <a:ext cx="5924550" cy="592455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143000" y="5107858"/>
            <a:ext cx="12801600" cy="48163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</a:rPr>
              <a:t>Industry Context: Collections operational cost varies across channels: SMS/WhatsApp (&lt;₹1), AI voice bots (₹1–3), tele-callers (₹15–30), field visits (₹150–400), and skip-tracing (₹89).</a:t>
            </a:r>
          </a:p>
          <a:p>
            <a:pPr marL="342900" lvl="0" indent="-342900">
              <a:buFont typeface="Courier New" panose="02070309020205020404" pitchFamily="49" charset="0"/>
              <a:buChar char="o"/>
            </a:pPr>
            <a:endParaRPr lang="en-US" sz="2400" dirty="0">
              <a:solidFill>
                <a:schemeClr val="bg1"/>
              </a:solidFill>
            </a:endParaRPr>
          </a:p>
          <a:p>
            <a:pPr marL="342900" lvl="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</a:rPr>
              <a:t>The Core Inefficiencies: 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1"/>
                </a:solidFill>
              </a:rPr>
              <a:t>Traditional dialers waste &gt;60% of call attempts repeatedly dialing dead numbers or                   futilely calling avoiding borrowers.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1"/>
                </a:solidFill>
              </a:rPr>
              <a:t>Skip-tracing is triggered by rigid heuristics (e.g., waiting for 15 failed dials), wasting                         ₹89 on accounts that don't need it and acting too late on dead lines.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</a:rPr>
              <a:t>Regulatory Guardrails: RBI Fair Practices Code strictly mandates zero third-party debt               disclosure, and the DPDP Act requires all automated decisions to be explainable and                 auditable.</a:t>
            </a:r>
          </a:p>
          <a:p>
            <a:pPr algn="just">
              <a:lnSpc>
                <a:spcPts val="3080"/>
              </a:lnSpc>
              <a:spcBef>
                <a:spcPct val="0"/>
              </a:spcBef>
            </a:pPr>
            <a:endParaRPr lang="en-US" sz="2400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1405413"/>
            <a:ext cx="17907000" cy="20058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469"/>
              </a:lnSpc>
            </a:pPr>
            <a:r>
              <a:rPr lang="en-US" sz="15000" b="1" spc="-1463" dirty="0">
                <a:solidFill>
                  <a:srgbClr val="EEEEEE"/>
                </a:solidFill>
                <a:latin typeface="Poppins Heavy"/>
                <a:ea typeface="Poppins Heavy"/>
                <a:cs typeface="Poppins Heavy"/>
                <a:sym typeface="Poppins Heavy"/>
              </a:rPr>
              <a:t>Problem  Statement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3276502"/>
            <a:ext cx="16725900" cy="19332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469"/>
              </a:lnSpc>
            </a:pPr>
            <a:r>
              <a:rPr lang="en-US" sz="15000" b="1" spc="-1463" dirty="0">
                <a:solidFill>
                  <a:srgbClr val="C5172E"/>
                </a:solidFill>
                <a:latin typeface="Poppins Heavy"/>
                <a:ea typeface="Poppins Heavy"/>
                <a:cs typeface="Poppins Heavy"/>
                <a:sym typeface="Poppins Heavy"/>
              </a:rPr>
              <a:t>&amp; Collection Reality</a:t>
            </a: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344400" y="5271995"/>
            <a:ext cx="5486401" cy="3943520"/>
            <a:chOff x="0" y="0"/>
            <a:chExt cx="950382" cy="61095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0382" cy="610954"/>
            </a:xfrm>
            <a:custGeom>
              <a:avLst/>
              <a:gdLst/>
              <a:ahLst/>
              <a:cxnLst/>
              <a:rect l="l" t="t" r="r" b="b"/>
              <a:pathLst>
                <a:path w="950382" h="610954">
                  <a:moveTo>
                    <a:pt x="29027" y="0"/>
                  </a:moveTo>
                  <a:lnTo>
                    <a:pt x="921355" y="0"/>
                  </a:lnTo>
                  <a:cubicBezTo>
                    <a:pt x="929053" y="0"/>
                    <a:pt x="936436" y="3058"/>
                    <a:pt x="941880" y="8502"/>
                  </a:cubicBezTo>
                  <a:cubicBezTo>
                    <a:pt x="947324" y="13945"/>
                    <a:pt x="950382" y="21329"/>
                    <a:pt x="950382" y="29027"/>
                  </a:cubicBezTo>
                  <a:lnTo>
                    <a:pt x="950382" y="581927"/>
                  </a:lnTo>
                  <a:cubicBezTo>
                    <a:pt x="950382" y="597959"/>
                    <a:pt x="937386" y="610954"/>
                    <a:pt x="921355" y="610954"/>
                  </a:cubicBezTo>
                  <a:lnTo>
                    <a:pt x="29027" y="610954"/>
                  </a:lnTo>
                  <a:cubicBezTo>
                    <a:pt x="12996" y="610954"/>
                    <a:pt x="0" y="597959"/>
                    <a:pt x="0" y="581927"/>
                  </a:cubicBezTo>
                  <a:lnTo>
                    <a:pt x="0" y="29027"/>
                  </a:lnTo>
                  <a:cubicBezTo>
                    <a:pt x="0" y="12996"/>
                    <a:pt x="12996" y="0"/>
                    <a:pt x="29027" y="0"/>
                  </a:cubicBezTo>
                  <a:close/>
                </a:path>
              </a:pathLst>
            </a:custGeom>
            <a:blipFill>
              <a:blip r:embed="rId2"/>
              <a:stretch>
                <a:fillRect l="-4440" r="-444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628491" y="-547170"/>
            <a:ext cx="19544981" cy="5437354"/>
            <a:chOff x="0" y="0"/>
            <a:chExt cx="5147649" cy="14320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47649" cy="1432060"/>
            </a:xfrm>
            <a:custGeom>
              <a:avLst/>
              <a:gdLst/>
              <a:ahLst/>
              <a:cxnLst/>
              <a:rect l="l" t="t" r="r" b="b"/>
              <a:pathLst>
                <a:path w="5147649" h="1432060">
                  <a:moveTo>
                    <a:pt x="0" y="0"/>
                  </a:moveTo>
                  <a:lnTo>
                    <a:pt x="5147649" y="0"/>
                  </a:lnTo>
                  <a:lnTo>
                    <a:pt x="5147649" y="1432060"/>
                  </a:lnTo>
                  <a:lnTo>
                    <a:pt x="0" y="1432060"/>
                  </a:lnTo>
                  <a:close/>
                </a:path>
              </a:pathLst>
            </a:custGeom>
            <a:solidFill>
              <a:srgbClr val="161616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76200"/>
              <a:ext cx="5147649" cy="15082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64196" y="346549"/>
            <a:ext cx="7287435" cy="2585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chemeClr val="bg1"/>
                </a:solidFill>
              </a:rPr>
              <a:t>Why Naive Classifiers Fail:</a:t>
            </a:r>
            <a:r>
              <a:rPr lang="en-US" sz="2800" dirty="0">
                <a:solidFill>
                  <a:schemeClr val="bg1"/>
                </a:solidFill>
              </a:rPr>
              <a:t> Treating call outcomes as a flat multi-class problem fails because non-contacts dominate the dataset, and an avoiding borrower looks identical to a dead line on the surface (both result in 0 connects).</a:t>
            </a:r>
            <a:endParaRPr lang="en-US" sz="2800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9"/>
              <p:cNvSpPr txBox="1"/>
              <p:nvPr/>
            </p:nvSpPr>
            <p:spPr>
              <a:xfrm>
                <a:off x="8350841" y="346549"/>
                <a:ext cx="7287435" cy="4822987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57200" lvl="0" indent="-457200">
                  <a:buFont typeface="Wingdings" panose="05000000000000000000" pitchFamily="2" charset="2"/>
                  <a:buChar char="q"/>
                </a:pPr>
                <a:r>
                  <a:rPr lang="en-US" sz="2800" b="1" dirty="0">
                    <a:solidFill>
                      <a:schemeClr val="bg1"/>
                    </a:solidFill>
                  </a:rPr>
                  <a:t>The Two Core Dilemmas Resolved:</a:t>
                </a:r>
                <a:r>
                  <a:rPr lang="en-US" sz="2800" dirty="0">
                    <a:solidFill>
                      <a:schemeClr val="bg1"/>
                    </a:solidFill>
                    <a:effectLst/>
                  </a:rPr>
                  <a:t> </a:t>
                </a:r>
                <a:r>
                  <a:rPr lang="en-US" sz="2800" b="1" dirty="0">
                    <a:solidFill>
                      <a:schemeClr val="bg1"/>
                    </a:solidFill>
                    <a:effectLst/>
                  </a:rPr>
                  <a:t>Problem A (Avoiding vs. Dead):</a:t>
                </a:r>
                <a:r>
                  <a:rPr lang="en-US" sz="2800" dirty="0">
                    <a:solidFill>
                      <a:schemeClr val="bg1"/>
                    </a:solidFill>
                    <a:effectLst/>
                  </a:rPr>
                  <a:t> High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800">
                            <a:solidFill>
                              <a:schemeClr val="bg1"/>
                            </a:solidFill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800">
                            <a:solidFill>
                              <a:schemeClr val="bg1"/>
                            </a:solidFill>
                          </a:rPr>
                          <m:t>Active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chemeClr val="bg1"/>
                    </a:solidFill>
                    <a:effectLst/>
                  </a:rPr>
                  <a:t>but low responsiveness </a:t>
                </a:r>
                <a14:m>
                  <m:oMath xmlns:m="http://schemas.openxmlformats.org/officeDocument/2006/math">
                    <m:r>
                      <a:rPr lang="en-US" sz="28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800" b="1" dirty="0">
                    <a:solidFill>
                      <a:schemeClr val="bg1"/>
                    </a:solidFill>
                    <a:effectLst/>
                  </a:rPr>
                  <a:t> Switch Channel (WhatsApp/Field)</a:t>
                </a:r>
                <a:r>
                  <a:rPr lang="en-US" sz="2800" dirty="0">
                    <a:solidFill>
                      <a:schemeClr val="bg1"/>
                    </a:solidFill>
                    <a:effectLst/>
                  </a:rPr>
                  <a:t>; low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800">
                            <a:solidFill>
                              <a:schemeClr val="bg1"/>
                            </a:solidFill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800">
                            <a:solidFill>
                              <a:schemeClr val="bg1"/>
                            </a:solidFill>
                          </a:rPr>
                          <m:t>Active</m:t>
                        </m:r>
                      </m:e>
                    </m:d>
                    <m:r>
                      <a:rPr lang="en-US" sz="28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800" b="1" dirty="0">
                    <a:solidFill>
                      <a:schemeClr val="bg1"/>
                    </a:solidFill>
                    <a:effectLst/>
                  </a:rPr>
                  <a:t> Skip-Trace</a:t>
                </a:r>
                <a:r>
                  <a:rPr lang="en-US" sz="2800" dirty="0">
                    <a:solidFill>
                      <a:schemeClr val="bg1"/>
                    </a:solidFill>
                    <a:effectLst/>
                  </a:rPr>
                  <a:t>.</a:t>
                </a:r>
              </a:p>
              <a:p>
                <a:pPr marL="457200" lvl="0" indent="-457200">
                  <a:buFont typeface="Wingdings" panose="05000000000000000000" pitchFamily="2" charset="2"/>
                  <a:buChar char="q"/>
                </a:pPr>
                <a:endParaRPr lang="en-US" sz="2800" b="1" dirty="0">
                  <a:solidFill>
                    <a:schemeClr val="bg1"/>
                  </a:solidFill>
                  <a:effectLst/>
                </a:endParaRPr>
              </a:p>
              <a:p>
                <a:pPr marL="457200" lvl="0" indent="-457200">
                  <a:buFont typeface="Wingdings" panose="05000000000000000000" pitchFamily="2" charset="2"/>
                  <a:buChar char="q"/>
                </a:pPr>
                <a:r>
                  <a:rPr lang="en-US" sz="2800" b="1" dirty="0">
                    <a:solidFill>
                      <a:schemeClr val="bg1"/>
                    </a:solidFill>
                    <a:effectLst/>
                  </a:rPr>
                  <a:t>Problem B (Switched Off Long-Term):</a:t>
                </a:r>
                <a:r>
                  <a:rPr lang="en-US" sz="2800" dirty="0">
                    <a:solidFill>
                      <a:schemeClr val="bg1"/>
                    </a:solidFill>
                    <a:effectLst/>
                  </a:rPr>
                  <a:t> Multi-day streak tracking identifies persistent switch-offs and cascades to backup numbers on file before triggering trace.</a:t>
                </a:r>
              </a:p>
              <a:p>
                <a:pPr marL="457200" indent="-457200" algn="l">
                  <a:lnSpc>
                    <a:spcPts val="4339"/>
                  </a:lnSpc>
                  <a:spcBef>
                    <a:spcPct val="0"/>
                  </a:spcBef>
                  <a:buFont typeface="Wingdings" panose="05000000000000000000" pitchFamily="2" charset="2"/>
                  <a:buChar char="q"/>
                </a:pPr>
                <a:endParaRPr lang="en-US" sz="2800" dirty="0">
                  <a:solidFill>
                    <a:schemeClr val="bg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mc:Choice>
        <mc:Fallback>
          <p:sp>
            <p:nvSpPr>
              <p:cNvPr id="9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0841" y="346549"/>
                <a:ext cx="7287435" cy="4822987"/>
              </a:xfrm>
              <a:prstGeom prst="rect">
                <a:avLst/>
              </a:prstGeom>
              <a:blipFill>
                <a:blip r:embed="rId3"/>
                <a:stretch>
                  <a:fillRect l="-2762" t="-2149" r="-2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10"/>
              <p:cNvSpPr txBox="1"/>
              <p:nvPr/>
            </p:nvSpPr>
            <p:spPr>
              <a:xfrm>
                <a:off x="264196" y="3255511"/>
                <a:ext cx="7529918" cy="109946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342900" indent="-342900">
                  <a:spcBef>
                    <a:spcPct val="0"/>
                  </a:spcBef>
                  <a:buFont typeface="Wingdings" panose="05000000000000000000" pitchFamily="2" charset="2"/>
                  <a:buChar char="q"/>
                </a:pPr>
                <a:r>
                  <a:rPr lang="en-US" sz="2400" b="1" dirty="0">
                    <a:solidFill>
                      <a:schemeClr val="bg1"/>
                    </a:solidFill>
                  </a:rPr>
                  <a:t>The Decoupled Formulation:</a:t>
                </a:r>
                <a:r>
                  <a:rPr lang="en-US" sz="2400" dirty="0">
                    <a:solidFill>
                      <a:schemeClr val="bg1"/>
                    </a:solidFill>
                    <a:effectLst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0" i="0">
                        <a:solidFill>
                          <a:schemeClr val="bg1"/>
                        </a:solidFill>
                      </a:rPr>
                      <m:t>Observed Connect</m:t>
                    </m:r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>
                            <a:solidFill>
                              <a:schemeClr val="bg1"/>
                            </a:solidFill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400">
                            <a:solidFill>
                              <a:schemeClr val="bg1"/>
                            </a:solidFill>
                          </a:rPr>
                          <m:t>Active Line</m:t>
                        </m:r>
                      </m:e>
                    </m:d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>
                            <a:solidFill>
                              <a:schemeClr val="bg1"/>
                            </a:solidFill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400">
                            <a:solidFill>
                              <a:schemeClr val="bg1"/>
                            </a:solidFill>
                          </a:rPr>
                          <m:t>Borrower Willingness to Answer</m:t>
                        </m:r>
                        <m:r>
                          <a:rPr lang="en-US" sz="24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m:rPr>
                            <m:nor/>
                          </m:rPr>
                          <a:rPr lang="en-US" sz="2400">
                            <a:solidFill>
                              <a:schemeClr val="bg1"/>
                            </a:solidFill>
                          </a:rPr>
                          <m:t>Active Line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mc:Choice>
        <mc:Fallback xmlns="">
          <p:sp>
            <p:nvSpPr>
              <p:cNvPr id="10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96" y="3255511"/>
                <a:ext cx="7529918" cy="1099468"/>
              </a:xfrm>
              <a:prstGeom prst="rect">
                <a:avLst/>
              </a:prstGeom>
              <a:blipFill>
                <a:blip r:embed="rId4"/>
                <a:stretch>
                  <a:fillRect l="-2265" t="-25000" b="-86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1"/>
          <p:cNvSpPr txBox="1"/>
          <p:nvPr/>
        </p:nvSpPr>
        <p:spPr>
          <a:xfrm>
            <a:off x="1028700" y="5524500"/>
            <a:ext cx="11010900" cy="18535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368"/>
              </a:lnSpc>
            </a:pPr>
            <a:r>
              <a:rPr lang="en-US" sz="15727" b="1" spc="-1352" dirty="0">
                <a:solidFill>
                  <a:srgbClr val="C5172E"/>
                </a:solidFill>
                <a:latin typeface="Poppins Heavy"/>
                <a:ea typeface="Poppins Heavy"/>
                <a:cs typeface="Poppins Heavy"/>
                <a:sym typeface="Poppins Heavy"/>
              </a:rPr>
              <a:t>SOLUTION   &amp;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7243755"/>
            <a:ext cx="11849100" cy="18535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368"/>
              </a:lnSpc>
            </a:pPr>
            <a:r>
              <a:rPr lang="en-US" sz="15727" b="1" spc="-1352" dirty="0">
                <a:solidFill>
                  <a:srgbClr val="161616"/>
                </a:solidFill>
                <a:latin typeface="Poppins Heavy"/>
                <a:ea typeface="Poppins Heavy"/>
                <a:cs typeface="Poppins Heavy"/>
                <a:sym typeface="Poppins Heavy"/>
              </a:rPr>
              <a:t>Architecture</a:t>
            </a: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1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51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98063" y="2858903"/>
            <a:ext cx="7816146" cy="64633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/>
            <a:r>
              <a:rPr lang="en-US" sz="2800" b="1" dirty="0">
                <a:solidFill>
                  <a:schemeClr val="bg1"/>
                </a:solidFill>
              </a:rPr>
              <a:t>Key Feature Domains: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Telephony Physics:</a:t>
            </a:r>
            <a:r>
              <a:rPr lang="en-US" sz="2800" dirty="0">
                <a:solidFill>
                  <a:schemeClr val="bg1"/>
                </a:solidFill>
              </a:rPr>
              <a:t> Customer hangup count (</a:t>
            </a:r>
            <a:r>
              <a:rPr lang="en-US" sz="2800" dirty="0" err="1">
                <a:solidFill>
                  <a:schemeClr val="bg1"/>
                </a:solidFill>
              </a:rPr>
              <a:t>hangup_by</a:t>
            </a:r>
            <a:r>
              <a:rPr lang="en-US" sz="2800" dirty="0">
                <a:solidFill>
                  <a:schemeClr val="bg1"/>
                </a:solidFill>
              </a:rPr>
              <a:t> == 'customer'), full 30–45s ring vs. 0–2s instant circuit drops, unbroken switched-off streaks (</a:t>
            </a:r>
            <a:r>
              <a:rPr lang="en-US" sz="2800" dirty="0" err="1">
                <a:solidFill>
                  <a:schemeClr val="bg1"/>
                </a:solidFill>
              </a:rPr>
              <a:t>consecutive_switched_off</a:t>
            </a:r>
            <a:r>
              <a:rPr lang="en-US" sz="2800" dirty="0">
                <a:solidFill>
                  <a:schemeClr val="bg1"/>
                </a:solidFill>
              </a:rPr>
              <a:t>).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Lineage &amp; Graph Collisions:</a:t>
            </a:r>
            <a:r>
              <a:rPr lang="en-US" sz="2800" dirty="0">
                <a:solidFill>
                  <a:schemeClr val="bg1"/>
                </a:solidFill>
              </a:rPr>
              <a:t> Masked phone numbers appearing across multiple unrelated accounts (identifies recycled/stranger lines).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Account Financial Distress:</a:t>
            </a:r>
            <a:r>
              <a:rPr lang="en-US" sz="2800" dirty="0">
                <a:solidFill>
                  <a:schemeClr val="bg1"/>
                </a:solidFill>
              </a:rPr>
              <a:t> DPD, debt burden ratio, bounce reasons, ability-to-pay estimate, and historical PTP break rate.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Cross-Channel Corroboration:</a:t>
            </a:r>
            <a:r>
              <a:rPr lang="en-US" sz="2800" dirty="0">
                <a:solidFill>
                  <a:schemeClr val="bg1"/>
                </a:solidFill>
              </a:rPr>
              <a:t> Historical </a:t>
            </a:r>
          </a:p>
          <a:p>
            <a:pPr lvl="0"/>
            <a:r>
              <a:rPr lang="en-US" sz="2800" dirty="0">
                <a:solidFill>
                  <a:schemeClr val="bg1"/>
                </a:solidFill>
              </a:rPr>
              <a:t>      field visit outcomes (</a:t>
            </a:r>
            <a:r>
              <a:rPr lang="en-US" sz="2800" dirty="0" err="1">
                <a:solidFill>
                  <a:schemeClr val="bg1"/>
                </a:solidFill>
              </a:rPr>
              <a:t>locked_premises</a:t>
            </a:r>
            <a:r>
              <a:rPr lang="en-US" sz="2800" dirty="0">
                <a:solidFill>
                  <a:schemeClr val="bg1"/>
                </a:solidFill>
              </a:rPr>
              <a:t>, </a:t>
            </a:r>
          </a:p>
          <a:p>
            <a:pPr lvl="0"/>
            <a:r>
              <a:rPr lang="en-US" sz="2800" dirty="0">
                <a:solidFill>
                  <a:schemeClr val="bg1"/>
                </a:solidFill>
              </a:rPr>
              <a:t>      </a:t>
            </a:r>
            <a:r>
              <a:rPr lang="en-US" sz="2800" dirty="0" err="1">
                <a:solidFill>
                  <a:schemeClr val="bg1"/>
                </a:solidFill>
              </a:rPr>
              <a:t>met_family</a:t>
            </a:r>
            <a:r>
              <a:rPr lang="en-US" sz="2800" dirty="0">
                <a:solidFill>
                  <a:schemeClr val="bg1"/>
                </a:solidFill>
              </a:rPr>
              <a:t>) and digital UPI payments </a:t>
            </a:r>
          </a:p>
          <a:p>
            <a:pPr lvl="0"/>
            <a:r>
              <a:rPr lang="en-US" sz="2800" dirty="0">
                <a:solidFill>
                  <a:schemeClr val="bg1"/>
                </a:solidFill>
              </a:rPr>
              <a:t>      proving the borrower is  </a:t>
            </a:r>
            <a:r>
              <a:rPr lang="en-US" sz="2800" dirty="0">
                <a:solidFill>
                  <a:schemeClr val="bg1"/>
                </a:solidFill>
                <a:effectLst/>
              </a:rPr>
              <a:t>active 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5"/>
              <p:cNvSpPr txBox="1"/>
              <p:nvPr/>
            </p:nvSpPr>
            <p:spPr>
              <a:xfrm>
                <a:off x="598063" y="404454"/>
                <a:ext cx="5546554" cy="2154436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just">
                  <a:lnSpc>
                    <a:spcPct val="100000"/>
                  </a:lnSpc>
                </a:pPr>
                <a:r>
                  <a:rPr lang="en-US" sz="2800" b="1" dirty="0">
                    <a:solidFill>
                      <a:schemeClr val="bg1"/>
                    </a:solidFill>
                  </a:rPr>
                  <a:t>Strict Temporal Integrity:</a:t>
                </a:r>
                <a:r>
                  <a:rPr lang="en-US" sz="2800" dirty="0">
                    <a:solidFill>
                      <a:schemeClr val="bg1"/>
                    </a:solidFill>
                    <a:effectLst/>
                  </a:rPr>
                  <a:t> 77 features extracted strictly using prior attempt history (</a:t>
                </a:r>
                <a14:m>
                  <m:oMath xmlns:m="http://schemas.openxmlformats.org/officeDocument/2006/math">
                    <m:r>
                      <a:rPr lang="en-US" sz="28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0…</m:t>
                    </m:r>
                    <m:r>
                      <a:rPr lang="en-US" sz="2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8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800" dirty="0">
                    <a:solidFill>
                      <a:schemeClr val="bg1"/>
                    </a:solidFill>
                    <a:effectLst/>
                  </a:rPr>
                  <a:t>). Current attempt outcomes never leak into pre-dial features.</a:t>
                </a:r>
                <a:endParaRPr lang="en-US" sz="2800" dirty="0">
                  <a:solidFill>
                    <a:schemeClr val="bg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mc:Choice>
        <mc:Fallback xmlns="">
          <p:sp>
            <p:nvSpPr>
              <p:cNvPr id="5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063" y="404454"/>
                <a:ext cx="5546554" cy="2154436"/>
              </a:xfrm>
              <a:prstGeom prst="rect">
                <a:avLst/>
              </a:prstGeom>
              <a:blipFill>
                <a:blip r:embed="rId2"/>
                <a:stretch>
                  <a:fillRect l="-3846" t="-4802" r="-3956" b="-90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6"/>
          <p:cNvGrpSpPr/>
          <p:nvPr/>
        </p:nvGrpSpPr>
        <p:grpSpPr>
          <a:xfrm>
            <a:off x="9970417" y="-547170"/>
            <a:ext cx="8946073" cy="11423253"/>
            <a:chOff x="0" y="0"/>
            <a:chExt cx="2356167" cy="300859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56167" cy="3008593"/>
            </a:xfrm>
            <a:custGeom>
              <a:avLst/>
              <a:gdLst/>
              <a:ahLst/>
              <a:cxnLst/>
              <a:rect l="l" t="t" r="r" b="b"/>
              <a:pathLst>
                <a:path w="2356167" h="3008593">
                  <a:moveTo>
                    <a:pt x="0" y="0"/>
                  </a:moveTo>
                  <a:lnTo>
                    <a:pt x="2356167" y="0"/>
                  </a:lnTo>
                  <a:lnTo>
                    <a:pt x="2356167" y="3008593"/>
                  </a:lnTo>
                  <a:lnTo>
                    <a:pt x="0" y="3008593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76200"/>
              <a:ext cx="2356167" cy="30847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705600" y="6269765"/>
            <a:ext cx="11770098" cy="35464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3294"/>
              </a:lnSpc>
            </a:pPr>
            <a:r>
              <a:rPr lang="en-US" sz="15641" b="1" spc="-1345" dirty="0">
                <a:solidFill>
                  <a:srgbClr val="161616"/>
                </a:solidFill>
                <a:latin typeface="Poppins Heavy"/>
                <a:ea typeface="Poppins Heavy"/>
                <a:cs typeface="Poppins Heavy"/>
                <a:sym typeface="Poppins Heavy"/>
              </a:rPr>
              <a:t>Feature </a:t>
            </a:r>
            <a:r>
              <a:rPr lang="en-US" sz="15641" b="1" spc="-1345" dirty="0">
                <a:solidFill>
                  <a:schemeClr val="bg1"/>
                </a:solidFill>
                <a:latin typeface="Poppins Heavy"/>
                <a:ea typeface="Poppins Heavy"/>
                <a:cs typeface="Poppins Heavy"/>
                <a:sym typeface="Poppins Heavy"/>
              </a:rPr>
              <a:t>En</a:t>
            </a:r>
            <a:r>
              <a:rPr lang="en-US" sz="15641" b="1" spc="-1345" dirty="0">
                <a:solidFill>
                  <a:srgbClr val="161616"/>
                </a:solidFill>
                <a:latin typeface="Poppins Heavy"/>
                <a:ea typeface="Poppins Heavy"/>
                <a:cs typeface="Poppins Heavy"/>
                <a:sym typeface="Poppins Heavy"/>
              </a:rPr>
              <a:t>gineering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1783627" y="1028700"/>
            <a:ext cx="5475673" cy="4114800"/>
            <a:chOff x="0" y="0"/>
            <a:chExt cx="848325" cy="63749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48325" cy="637490"/>
            </a:xfrm>
            <a:custGeom>
              <a:avLst/>
              <a:gdLst/>
              <a:ahLst/>
              <a:cxnLst/>
              <a:rect l="l" t="t" r="r" b="b"/>
              <a:pathLst>
                <a:path w="848325" h="637490">
                  <a:moveTo>
                    <a:pt x="32519" y="0"/>
                  </a:moveTo>
                  <a:lnTo>
                    <a:pt x="815806" y="0"/>
                  </a:lnTo>
                  <a:cubicBezTo>
                    <a:pt x="824430" y="0"/>
                    <a:pt x="832702" y="3426"/>
                    <a:pt x="838800" y="9525"/>
                  </a:cubicBezTo>
                  <a:cubicBezTo>
                    <a:pt x="844899" y="15623"/>
                    <a:pt x="848325" y="23895"/>
                    <a:pt x="848325" y="32519"/>
                  </a:cubicBezTo>
                  <a:lnTo>
                    <a:pt x="848325" y="604971"/>
                  </a:lnTo>
                  <a:cubicBezTo>
                    <a:pt x="848325" y="622931"/>
                    <a:pt x="833766" y="637490"/>
                    <a:pt x="815806" y="637490"/>
                  </a:cubicBezTo>
                  <a:lnTo>
                    <a:pt x="32519" y="637490"/>
                  </a:lnTo>
                  <a:cubicBezTo>
                    <a:pt x="23895" y="637490"/>
                    <a:pt x="15623" y="634064"/>
                    <a:pt x="9525" y="627966"/>
                  </a:cubicBezTo>
                  <a:cubicBezTo>
                    <a:pt x="3426" y="621867"/>
                    <a:pt x="0" y="613596"/>
                    <a:pt x="0" y="604971"/>
                  </a:cubicBezTo>
                  <a:lnTo>
                    <a:pt x="0" y="32519"/>
                  </a:lnTo>
                  <a:cubicBezTo>
                    <a:pt x="0" y="23895"/>
                    <a:pt x="3426" y="15623"/>
                    <a:pt x="9525" y="9525"/>
                  </a:cubicBezTo>
                  <a:cubicBezTo>
                    <a:pt x="15623" y="3426"/>
                    <a:pt x="23895" y="0"/>
                    <a:pt x="32519" y="0"/>
                  </a:cubicBezTo>
                  <a:close/>
                </a:path>
              </a:pathLst>
            </a:custGeom>
            <a:blipFill>
              <a:blip r:embed="rId3"/>
              <a:stretch>
                <a:fillRect l="-6360" r="-636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17B4CC99-A34D-9CA5-87DE-0E25E37B57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58800" y="1676337"/>
            <a:ext cx="5219790" cy="521979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028700" y="3811773"/>
            <a:ext cx="2864575" cy="511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dirty="0">
                <a:solidFill>
                  <a:srgbClr val="161616"/>
                </a:solidFill>
                <a:latin typeface="Poppins Bold"/>
                <a:ea typeface="Poppins Bold"/>
                <a:cs typeface="Poppins Bold"/>
                <a:sym typeface="Poppins Bold"/>
              </a:rPr>
              <a:t>Model Suite 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5"/>
              <p:cNvSpPr txBox="1"/>
              <p:nvPr/>
            </p:nvSpPr>
            <p:spPr>
              <a:xfrm>
                <a:off x="1028700" y="4520208"/>
                <a:ext cx="9639300" cy="2215991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400" b="1" dirty="0"/>
                  <a:t>Model 1 (Line Liveness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/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400"/>
                          <m:t>Active</m:t>
                        </m:r>
                      </m:e>
                    </m:d>
                  </m:oMath>
                </a14:m>
                <a:r>
                  <a:rPr lang="en-US" sz="2400" b="1" dirty="0">
                    <a:effectLst/>
                  </a:rPr>
                  <a:t>):</a:t>
                </a:r>
                <a:r>
                  <a:rPr lang="en-US" sz="2400" dirty="0">
                    <a:effectLst/>
                  </a:rPr>
                  <a:t> LightGBM Binary Classifier determining if the SIM is physically powered on and connected to the telecom network.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US" sz="2400" dirty="0">
                  <a:effectLst/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400" b="1" dirty="0">
                    <a:effectLst/>
                  </a:rPr>
                  <a:t>Model 2 (Borrower Responsiveness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/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400"/>
                          <m:t>RPC</m:t>
                        </m:r>
                        <m:r>
                          <a:rPr lang="en-US" sz="240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m:rPr>
                            <m:nor/>
                          </m:rPr>
                          <a:rPr lang="en-US" sz="2400"/>
                          <m:t>Active</m:t>
                        </m:r>
                      </m:e>
                    </m:d>
                  </m:oMath>
                </a14:m>
                <a:r>
                  <a:rPr lang="en-US" sz="2400" b="1" dirty="0">
                    <a:effectLst/>
                  </a:rPr>
                  <a:t>):</a:t>
                </a:r>
                <a:r>
                  <a:rPr lang="en-US" sz="2400" dirty="0">
                    <a:effectLst/>
                  </a:rPr>
                  <a:t> LightGBM Binary Classifier estimating borrower pickup likelihood during specific diurnal slots.</a:t>
                </a:r>
              </a:p>
            </p:txBody>
          </p:sp>
        </mc:Choice>
        <mc:Fallback>
          <p:sp>
            <p:nvSpPr>
              <p:cNvPr id="5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00" y="4520208"/>
                <a:ext cx="9639300" cy="2215991"/>
              </a:xfrm>
              <a:prstGeom prst="rect">
                <a:avLst/>
              </a:prstGeom>
              <a:blipFill>
                <a:blip r:embed="rId3"/>
                <a:stretch>
                  <a:fillRect l="-1834" t="-4408" r="-1834" b="-74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6"/>
          <p:cNvSpPr txBox="1"/>
          <p:nvPr/>
        </p:nvSpPr>
        <p:spPr>
          <a:xfrm>
            <a:off x="1028700" y="6943142"/>
            <a:ext cx="7277100" cy="5116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dirty="0">
                <a:solidFill>
                  <a:srgbClr val="161616"/>
                </a:solidFill>
                <a:latin typeface="Poppins Bold"/>
                <a:ea typeface="Poppins Bold"/>
                <a:cs typeface="Poppins Bold"/>
                <a:sym typeface="Poppins Bold"/>
              </a:rPr>
              <a:t>Counterfactual  Debiasing via IPW 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7"/>
              <p:cNvSpPr txBox="1"/>
              <p:nvPr/>
            </p:nvSpPr>
            <p:spPr>
              <a:xfrm>
                <a:off x="1028700" y="7608052"/>
                <a:ext cx="8724900" cy="2156809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Historical dialer data suffers from selection bias (incumbent rule-based decisions).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effectLst/>
                  </a:rPr>
                  <a:t>We trained Model 2 with </a:t>
                </a:r>
                <a:r>
                  <a:rPr lang="en-US" sz="2400" b="1" dirty="0">
                    <a:effectLst/>
                  </a:rPr>
                  <a:t>Inverse Propensity Weighting (IPW)</a:t>
                </a:r>
                <a:r>
                  <a:rPr lang="en-US" sz="2400" dirty="0">
                    <a:effectLst/>
                  </a:rPr>
                  <a:t> on the randomized exploration arm (</a:t>
                </a:r>
                <a:r>
                  <a:rPr lang="en-US" sz="2400" dirty="0"/>
                  <a:t>random_contact_point</a:t>
                </a:r>
                <a:r>
                  <a:rPr lang="en-US" sz="2400" dirty="0">
                    <a:effectLst/>
                  </a:rPr>
                  <a:t>) using weights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/>
                          <m:t>clip</m:t>
                        </m:r>
                        <m:d>
                          <m:dPr>
                            <m:sepChr m:val=",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e>
                            <m:r>
                              <a:rPr lang="en-US" sz="2400">
                                <a:latin typeface="Cambria Math" panose="02040503050406030204" pitchFamily="18" charset="0"/>
                              </a:rPr>
                              <m:t>0.21.0</m:t>
                            </m:r>
                          </m:e>
                        </m:d>
                      </m:den>
                    </m:f>
                  </m:oMath>
                </a14:m>
                <a:r>
                  <a:rPr lang="en-US" sz="2400" dirty="0">
                    <a:effectLst/>
                  </a:rPr>
                  <a:t>to eliminate policy bias.</a:t>
                </a:r>
              </a:p>
            </p:txBody>
          </p:sp>
        </mc:Choice>
        <mc:Fallback>
          <p:sp>
            <p:nvSpPr>
              <p:cNvPr id="7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00" y="7608052"/>
                <a:ext cx="8724900" cy="2156809"/>
              </a:xfrm>
              <a:prstGeom prst="rect">
                <a:avLst/>
              </a:prstGeom>
              <a:blipFill>
                <a:blip r:embed="rId4"/>
                <a:stretch>
                  <a:fillRect l="-2027" t="-42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8"/>
          <p:cNvSpPr txBox="1"/>
          <p:nvPr/>
        </p:nvSpPr>
        <p:spPr>
          <a:xfrm>
            <a:off x="381000" y="1879415"/>
            <a:ext cx="7924800" cy="24282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911"/>
              </a:lnSpc>
            </a:pPr>
            <a:r>
              <a:rPr lang="en-US" sz="17000" b="1" spc="-300" dirty="0">
                <a:solidFill>
                  <a:srgbClr val="161616"/>
                </a:solidFill>
                <a:latin typeface="Poppins Heavy"/>
                <a:ea typeface="Poppins Heavy"/>
                <a:cs typeface="Poppins Heavy"/>
                <a:sym typeface="Poppins Heavy"/>
              </a:rPr>
              <a:t>MODEL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81000" y="201121"/>
            <a:ext cx="12123744" cy="25359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911"/>
              </a:lnSpc>
            </a:pPr>
            <a:r>
              <a:rPr lang="en-US" sz="20000" b="1" spc="-1913" dirty="0">
                <a:solidFill>
                  <a:srgbClr val="C5172E"/>
                </a:solidFill>
                <a:latin typeface="Poppins Heavy"/>
                <a:ea typeface="Poppins Heavy"/>
                <a:cs typeface="Poppins Heavy"/>
                <a:sym typeface="Poppins Heavy"/>
              </a:rPr>
              <a:t>SELECTION</a:t>
            </a: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5C33BD-7623-01FB-6D60-AAC4C3A92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F0351DD3-F3AD-AB66-0AEB-0C1369B5A3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58800" y="1676337"/>
            <a:ext cx="5219790" cy="521979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E1DE90B2-1B58-1EE3-5776-D4A4866F35D7}"/>
              </a:ext>
            </a:extLst>
          </p:cNvPr>
          <p:cNvSpPr txBox="1"/>
          <p:nvPr/>
        </p:nvSpPr>
        <p:spPr>
          <a:xfrm>
            <a:off x="1028700" y="3811773"/>
            <a:ext cx="7277100" cy="5116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dirty="0">
                <a:solidFill>
                  <a:srgbClr val="161616"/>
                </a:solidFill>
                <a:latin typeface="Poppins Bold"/>
                <a:ea typeface="Poppins Bold"/>
                <a:cs typeface="Poppins Bold"/>
                <a:sym typeface="Poppins Bold"/>
              </a:rPr>
              <a:t>Hyperparameter configuration: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C428B4A-966F-3792-14BA-77C07E250DF0}"/>
              </a:ext>
            </a:extLst>
          </p:cNvPr>
          <p:cNvSpPr txBox="1"/>
          <p:nvPr/>
        </p:nvSpPr>
        <p:spPr>
          <a:xfrm>
            <a:off x="1028700" y="4404836"/>
            <a:ext cx="9639300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 err="1"/>
              <a:t>n_estimators</a:t>
            </a:r>
            <a:r>
              <a:rPr lang="en-US" sz="2400" dirty="0"/>
              <a:t>: 120 (Liveness) / 150 (RPC) with </a:t>
            </a:r>
            <a:r>
              <a:rPr lang="en-US" sz="2400" b="1" dirty="0" err="1"/>
              <a:t>learning_rate</a:t>
            </a:r>
            <a:r>
              <a:rPr lang="en-US" sz="2400" dirty="0"/>
              <a:t>: 0.04–0.05 and </a:t>
            </a:r>
            <a:r>
              <a:rPr lang="en-US" sz="2400" b="1" dirty="0" err="1"/>
              <a:t>num_leaves</a:t>
            </a:r>
            <a:r>
              <a:rPr lang="en-US" sz="2400" dirty="0"/>
              <a:t>: 31.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Constrained tree depth and leaves prevent overfitting on noisy telephony connection logs.</a:t>
            </a:r>
            <a:endParaRPr lang="en-US" sz="2400" dirty="0">
              <a:effectLst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740A135-4466-0D6C-A8F5-11F14030D1CE}"/>
              </a:ext>
            </a:extLst>
          </p:cNvPr>
          <p:cNvSpPr txBox="1"/>
          <p:nvPr/>
        </p:nvSpPr>
        <p:spPr>
          <a:xfrm>
            <a:off x="1007918" y="6467973"/>
            <a:ext cx="7277100" cy="5116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dirty="0">
                <a:solidFill>
                  <a:srgbClr val="161616"/>
                </a:solidFill>
                <a:latin typeface="Poppins Bold"/>
                <a:ea typeface="Poppins Bold"/>
                <a:cs typeface="Poppins Bold"/>
                <a:sym typeface="Poppins Bold"/>
              </a:rPr>
              <a:t>Isotonic Probability Calibration :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3855370-B6D2-22FB-7C55-4909C8028196}"/>
              </a:ext>
            </a:extLst>
          </p:cNvPr>
          <p:cNvSpPr txBox="1"/>
          <p:nvPr/>
        </p:nvSpPr>
        <p:spPr>
          <a:xfrm>
            <a:off x="1485900" y="7267123"/>
            <a:ext cx="8724900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Standard gradient boosted trees produce uncalibrated probabilities. We fitted </a:t>
            </a:r>
            <a:r>
              <a:rPr lang="en-US" sz="2400" b="1" dirty="0"/>
              <a:t>Isotonic Regression</a:t>
            </a:r>
            <a:r>
              <a:rPr lang="en-US" sz="2400" dirty="0"/>
              <a:t> (</a:t>
            </a:r>
            <a:r>
              <a:rPr lang="en-US" sz="2400" dirty="0" err="1"/>
              <a:t>CalibratedClassifierCV</a:t>
            </a:r>
            <a:r>
              <a:rPr lang="en-US" sz="2400" dirty="0"/>
              <a:t>(method='isotonic', cv=3)).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Brier Calibration Scores:</a:t>
            </a:r>
            <a:r>
              <a:rPr lang="en-US" sz="2400" dirty="0"/>
              <a:t> </a:t>
            </a:r>
            <a:r>
              <a:rPr lang="en-US" sz="2400" b="1" dirty="0"/>
              <a:t>0.0789</a:t>
            </a:r>
            <a:r>
              <a:rPr lang="en-US" sz="2400" dirty="0"/>
              <a:t> for Liveness and </a:t>
            </a:r>
            <a:r>
              <a:rPr lang="en-US" sz="2400" b="1" dirty="0"/>
              <a:t>0.1338</a:t>
            </a:r>
            <a:r>
              <a:rPr lang="en-US" sz="2400" dirty="0"/>
              <a:t> for RPC (confirming predicted probabilities closely match empirical contact frequencies).</a:t>
            </a:r>
            <a:endParaRPr lang="en-US" sz="2400" dirty="0">
              <a:effectLst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D7FC148-AE5A-CD74-FD11-B96E004C7338}"/>
              </a:ext>
            </a:extLst>
          </p:cNvPr>
          <p:cNvSpPr txBox="1"/>
          <p:nvPr/>
        </p:nvSpPr>
        <p:spPr>
          <a:xfrm>
            <a:off x="381000" y="511691"/>
            <a:ext cx="15087600" cy="1538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10000" b="1" spc="-1913" dirty="0">
                <a:solidFill>
                  <a:srgbClr val="161616"/>
                </a:solidFill>
                <a:latin typeface="Baskerville Old Face" panose="02020602080505020303" pitchFamily="18" charset="0"/>
                <a:ea typeface="Malgun Gothic Semilight" panose="020B0502040204020203" pitchFamily="34" charset="-128"/>
                <a:cs typeface="Malgun Gothic Semilight" panose="020B0502040204020203" pitchFamily="34" charset="-128"/>
                <a:sym typeface="Poppins Heavy"/>
              </a:rPr>
              <a:t>H  y  p   e  r   p  a  r  a  m e  t  e  r     T u   n   </a:t>
            </a:r>
            <a:r>
              <a:rPr lang="en-US" sz="10000" b="1" spc="-1913" dirty="0" err="1">
                <a:solidFill>
                  <a:srgbClr val="161616"/>
                </a:solidFill>
                <a:latin typeface="Baskerville Old Face" panose="02020602080505020303" pitchFamily="18" charset="0"/>
                <a:ea typeface="Malgun Gothic Semilight" panose="020B0502040204020203" pitchFamily="34" charset="-128"/>
                <a:cs typeface="Malgun Gothic Semilight" panose="020B0502040204020203" pitchFamily="34" charset="-128"/>
                <a:sym typeface="Poppins Heavy"/>
              </a:rPr>
              <a:t>i</a:t>
            </a:r>
            <a:r>
              <a:rPr lang="en-US" sz="10000" b="1" spc="-1913" dirty="0">
                <a:solidFill>
                  <a:srgbClr val="161616"/>
                </a:solidFill>
                <a:latin typeface="Baskerville Old Face" panose="02020602080505020303" pitchFamily="18" charset="0"/>
                <a:ea typeface="Malgun Gothic Semilight" panose="020B0502040204020203" pitchFamily="34" charset="-128"/>
                <a:cs typeface="Malgun Gothic Semilight" panose="020B0502040204020203" pitchFamily="34" charset="-128"/>
                <a:sym typeface="Poppins Heavy"/>
              </a:rPr>
              <a:t>   n  g           &amp;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D1EEC4B-01B9-7CE4-A34E-6DF6680A2861}"/>
              </a:ext>
            </a:extLst>
          </p:cNvPr>
          <p:cNvSpPr txBox="1"/>
          <p:nvPr/>
        </p:nvSpPr>
        <p:spPr>
          <a:xfrm>
            <a:off x="346587" y="1500741"/>
            <a:ext cx="19124649" cy="23564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911"/>
              </a:lnSpc>
            </a:pPr>
            <a:r>
              <a:rPr lang="en-US" sz="15000" b="1" spc="-1913" dirty="0">
                <a:solidFill>
                  <a:srgbClr val="C5172E"/>
                </a:solidFill>
                <a:latin typeface="Palatino Linotype" panose="02040502050505030304" pitchFamily="18" charset="0"/>
                <a:ea typeface="Poppins Heavy"/>
                <a:cs typeface="Poppins Heavy"/>
                <a:sym typeface="Poppins Heavy"/>
              </a:rPr>
              <a:t>Probability   Calibration</a:t>
            </a:r>
          </a:p>
        </p:txBody>
      </p:sp>
    </p:spTree>
    <p:extLst>
      <p:ext uri="{BB962C8B-B14F-4D97-AF65-F5344CB8AC3E}">
        <p14:creationId xmlns:p14="http://schemas.microsoft.com/office/powerpoint/2010/main" val="309223245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/>
          <p:cNvSpPr txBox="1"/>
          <p:nvPr/>
        </p:nvSpPr>
        <p:spPr>
          <a:xfrm>
            <a:off x="8763000" y="503919"/>
            <a:ext cx="6947333" cy="500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31"/>
              </a:lnSpc>
            </a:pPr>
            <a:r>
              <a:rPr lang="en-US" sz="2950" b="1" dirty="0">
                <a:solidFill>
                  <a:srgbClr val="F0F0F0"/>
                </a:solidFill>
                <a:latin typeface="Poppins"/>
                <a:ea typeface="Poppins"/>
                <a:cs typeface="Poppins"/>
                <a:sym typeface="Poppins"/>
              </a:rPr>
              <a:t>Out-of-Sample Test Performance 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763000" y="1338391"/>
            <a:ext cx="7431433" cy="25853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Model 1 (Line Liveness):</a:t>
            </a:r>
            <a:r>
              <a:rPr lang="en-US" sz="2800" dirty="0">
                <a:solidFill>
                  <a:schemeClr val="bg1"/>
                </a:solidFill>
              </a:rPr>
              <a:t> 91.95% Accuracy | ROC-AUC = 0.7771 | Brier Score = 0.0789.</a:t>
            </a:r>
          </a:p>
          <a:p>
            <a:pPr lvl="0"/>
            <a:endParaRPr lang="en-US" sz="2800" dirty="0">
              <a:solidFill>
                <a:schemeClr val="bg1"/>
              </a:solidFill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Model 2 (Borrower Responsiveness</a:t>
            </a:r>
            <a:r>
              <a:rPr lang="en-US" sz="2800" dirty="0">
                <a:solidFill>
                  <a:schemeClr val="bg1"/>
                </a:solidFill>
              </a:rPr>
              <a:t>): 83.69% Accuracy | ROC-AUC = 0.7140 | Brier Score = 0.1338.</a:t>
            </a:r>
            <a:endParaRPr lang="en-US" sz="2800" dirty="0">
              <a:solidFill>
                <a:schemeClr val="bg1"/>
              </a:solidFill>
              <a:effectLst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622021" y="4997917"/>
            <a:ext cx="7494047" cy="492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/>
            <a:r>
              <a:rPr lang="en-US" sz="3200" b="1" dirty="0">
                <a:solidFill>
                  <a:schemeClr val="bg1"/>
                </a:solidFill>
              </a:rPr>
              <a:t>Visual Diagnostics: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endParaRPr lang="en-US" sz="3200" dirty="0">
              <a:solidFill>
                <a:schemeClr val="bg1"/>
              </a:solidFill>
              <a:effectLst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579579" y="5403279"/>
            <a:ext cx="9944100" cy="3545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270"/>
              </a:lnSpc>
            </a:pPr>
            <a:r>
              <a:rPr lang="en-US" sz="13000" b="1" spc="-1342" dirty="0">
                <a:solidFill>
                  <a:srgbClr val="F0F0F0"/>
                </a:solidFill>
                <a:latin typeface="Poppins Heavy"/>
                <a:ea typeface="Poppins Heavy"/>
                <a:cs typeface="Poppins Heavy"/>
                <a:sym typeface="Poppins Heavy"/>
              </a:rPr>
              <a:t>M o d e l   </a:t>
            </a:r>
          </a:p>
          <a:p>
            <a:pPr algn="l">
              <a:lnSpc>
                <a:spcPts val="13270"/>
              </a:lnSpc>
            </a:pPr>
            <a:r>
              <a:rPr lang="en-US" sz="13000" b="1" spc="-1342" dirty="0">
                <a:solidFill>
                  <a:srgbClr val="F0F0F0"/>
                </a:solidFill>
                <a:latin typeface="Poppins Heavy"/>
                <a:ea typeface="Poppins Heavy"/>
                <a:cs typeface="Poppins Heavy"/>
                <a:sym typeface="Poppins Heavy"/>
              </a:rPr>
              <a:t>Eva l u a t </a:t>
            </a:r>
            <a:r>
              <a:rPr lang="en-US" sz="13000" b="1" spc="-1342" dirty="0" err="1">
                <a:solidFill>
                  <a:srgbClr val="F0F0F0"/>
                </a:solidFill>
                <a:latin typeface="Poppins Heavy"/>
                <a:ea typeface="Poppins Heavy"/>
                <a:cs typeface="Poppins Heavy"/>
                <a:sym typeface="Poppins Heavy"/>
              </a:rPr>
              <a:t>i</a:t>
            </a:r>
            <a:r>
              <a:rPr lang="en-US" sz="13000" b="1" spc="-1342" dirty="0">
                <a:solidFill>
                  <a:srgbClr val="F0F0F0"/>
                </a:solidFill>
                <a:latin typeface="Poppins Heavy"/>
                <a:ea typeface="Poppins Heavy"/>
                <a:cs typeface="Poppins Heavy"/>
                <a:sym typeface="Poppins Heavy"/>
              </a:rPr>
              <a:t> o 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2431E1-F25A-FE3D-AFDE-71BC22C27156}"/>
              </a:ext>
            </a:extLst>
          </p:cNvPr>
          <p:cNvSpPr txBox="1"/>
          <p:nvPr/>
        </p:nvSpPr>
        <p:spPr>
          <a:xfrm>
            <a:off x="579579" y="8391300"/>
            <a:ext cx="87168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AUC &amp; calibration Curves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CDBA743-7D57-68C3-757E-EDDD1A5B1E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7105" y="5779970"/>
            <a:ext cx="8234703" cy="366455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B2971D1-7A70-EC7B-2948-7DC6A80EB899}"/>
                  </a:ext>
                </a:extLst>
              </p:cNvPr>
              <p:cNvSpPr txBox="1"/>
              <p:nvPr/>
            </p:nvSpPr>
            <p:spPr>
              <a:xfrm>
                <a:off x="9518879" y="9453130"/>
                <a:ext cx="843115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chemeClr val="bg1"/>
                    </a:solidFill>
                  </a:rPr>
                  <a:t>Demonstrates reliability curves closely tracking the perfect calibration line (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600" dirty="0">
                    <a:solidFill>
                      <a:schemeClr val="bg1"/>
                    </a:solidFill>
                    <a:effectLst/>
                  </a:rPr>
                  <a:t>) for both models.</a:t>
                </a:r>
                <a:endParaRPr lang="en-US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B2971D1-7A70-EC7B-2948-7DC6A80EB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8879" y="9453130"/>
                <a:ext cx="8431154" cy="338554"/>
              </a:xfrm>
              <a:prstGeom prst="rect">
                <a:avLst/>
              </a:prstGeom>
              <a:blipFill>
                <a:blip r:embed="rId4"/>
                <a:stretch>
                  <a:fillRect l="-361" t="-5455" b="-2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20">
            <a:extLst>
              <a:ext uri="{FF2B5EF4-FFF2-40B4-BE49-F238E27FC236}">
                <a16:creationId xmlns:a16="http://schemas.microsoft.com/office/drawing/2014/main" id="{C3F6A1DF-354A-8272-7B55-0299FDCB5FB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475679"/>
            <a:ext cx="5029206" cy="431074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633FD16-AF7D-59A7-86E9-91CFE03F44B2}"/>
              </a:ext>
            </a:extLst>
          </p:cNvPr>
          <p:cNvSpPr txBox="1"/>
          <p:nvPr/>
        </p:nvSpPr>
        <p:spPr>
          <a:xfrm>
            <a:off x="1676400" y="4783399"/>
            <a:ext cx="55072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Shows strong out-of-sample discrimination on unseen accounts.</a:t>
            </a:r>
          </a:p>
        </p:txBody>
      </p:sp>
    </p:spTree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5" grpId="0"/>
      <p:bldP spid="16" grpId="0"/>
      <p:bldP spid="19" grpId="0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51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0EBCFC78-C158-ED8B-DF04-26F928FDAC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58400" y="4610100"/>
            <a:ext cx="6923091" cy="6667296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-514828" y="-836492"/>
            <a:ext cx="9432502" cy="11712575"/>
            <a:chOff x="0" y="-76200"/>
            <a:chExt cx="2484280" cy="308479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84280" cy="3008593"/>
            </a:xfrm>
            <a:custGeom>
              <a:avLst/>
              <a:gdLst/>
              <a:ahLst/>
              <a:cxnLst/>
              <a:rect l="l" t="t" r="r" b="b"/>
              <a:pathLst>
                <a:path w="2484280" h="3008593">
                  <a:moveTo>
                    <a:pt x="0" y="0"/>
                  </a:moveTo>
                  <a:lnTo>
                    <a:pt x="2484280" y="0"/>
                  </a:lnTo>
                  <a:lnTo>
                    <a:pt x="2484280" y="3008593"/>
                  </a:lnTo>
                  <a:lnTo>
                    <a:pt x="0" y="3008593"/>
                  </a:lnTo>
                  <a:close/>
                </a:path>
              </a:pathLst>
            </a:custGeom>
            <a:solidFill>
              <a:srgbClr val="161616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2484280" cy="30847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62000" y="1879792"/>
            <a:ext cx="7665242" cy="76944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/>
            <a:r>
              <a:rPr lang="en-US" sz="3200" b="1" dirty="0">
                <a:solidFill>
                  <a:schemeClr val="bg1"/>
                </a:solidFill>
              </a:rPr>
              <a:t>Telephony Channel Execution (7,407 Test Dials):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47.0% (3,478 dials):</a:t>
            </a:r>
            <a:r>
              <a:rPr lang="en-US" sz="3200" dirty="0">
                <a:solidFill>
                  <a:srgbClr val="FFC000"/>
                </a:solidFill>
              </a:rPr>
              <a:t> </a:t>
            </a:r>
            <a:r>
              <a:rPr lang="en-US" sz="2800" dirty="0">
                <a:solidFill>
                  <a:srgbClr val="FFC000"/>
                </a:solidFill>
              </a:rPr>
              <a:t>Switch channel (WhatsApp, field) </a:t>
            </a:r>
            <a:r>
              <a:rPr lang="en-US" sz="2800" dirty="0">
                <a:solidFill>
                  <a:schemeClr val="bg1"/>
                </a:solidFill>
              </a:rPr>
              <a:t>— Stops dialer fatigue on avoiding borrowers.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</a:rPr>
              <a:t>17.5% (1,299 dials):</a:t>
            </a:r>
            <a:r>
              <a:rPr lang="en-US" sz="3200" dirty="0">
                <a:solidFill>
                  <a:srgbClr val="FFC000"/>
                </a:solidFill>
              </a:rPr>
              <a:t> </a:t>
            </a:r>
            <a:r>
              <a:rPr lang="en-US" sz="2800" dirty="0">
                <a:solidFill>
                  <a:srgbClr val="FFC000"/>
                </a:solidFill>
              </a:rPr>
              <a:t>Keep dialing, at best time slot</a:t>
            </a:r>
            <a:r>
              <a:rPr lang="en-US" sz="2800" dirty="0">
                <a:solidFill>
                  <a:schemeClr val="bg1"/>
                </a:solidFill>
              </a:rPr>
              <a:t> — Concentrates calls on responsive targets.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</a:rPr>
              <a:t>11.8% (877 dials):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2800" dirty="0">
                <a:solidFill>
                  <a:srgbClr val="FFC000"/>
                </a:solidFill>
              </a:rPr>
              <a:t>Stop at once (Suppression) </a:t>
            </a:r>
            <a:r>
              <a:rPr lang="en-US" sz="2800" dirty="0">
                <a:solidFill>
                  <a:schemeClr val="bg1"/>
                </a:solidFill>
              </a:rPr>
              <a:t>— Recycled numbers suppressed (0 FPC risk).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</a:rPr>
              <a:t>2.3% (171 dials):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2800" dirty="0">
                <a:solidFill>
                  <a:srgbClr val="FFC000"/>
                </a:solidFill>
              </a:rPr>
              <a:t>Move to another number on file </a:t>
            </a:r>
            <a:r>
              <a:rPr lang="en-US" sz="2800" dirty="0">
                <a:solidFill>
                  <a:schemeClr val="bg1"/>
                </a:solidFill>
              </a:rPr>
              <a:t>— Multi-phone cascading on dead lines.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</a:rPr>
              <a:t>5.7% (423 dials):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2800" dirty="0">
                <a:solidFill>
                  <a:srgbClr val="FFC000"/>
                </a:solidFill>
              </a:rPr>
              <a:t>Trigger Skip-Trace </a:t>
            </a:r>
            <a:r>
              <a:rPr lang="en-US" sz="2800" dirty="0">
                <a:solidFill>
                  <a:schemeClr val="bg1"/>
                </a:solidFill>
              </a:rPr>
              <a:t>— Targets confirmed dead lines and exhausted accounts.</a:t>
            </a:r>
            <a:endParaRPr lang="en-US" sz="2800" dirty="0">
              <a:solidFill>
                <a:schemeClr val="bg1"/>
              </a:solidFill>
              <a:effectLst/>
            </a:endParaRP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BC44CB19-154C-50B0-F315-E8540711BF9B}"/>
              </a:ext>
            </a:extLst>
          </p:cNvPr>
          <p:cNvSpPr txBox="1"/>
          <p:nvPr/>
        </p:nvSpPr>
        <p:spPr>
          <a:xfrm>
            <a:off x="9726193" y="1813269"/>
            <a:ext cx="6798098" cy="4431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00000"/>
              </a:lnSpc>
              <a:spcBef>
                <a:spcPct val="0"/>
              </a:spcBef>
            </a:pPr>
            <a:r>
              <a:rPr lang="en-US" sz="3200" b="1" dirty="0"/>
              <a:t>Field Channel Operations (3,117 Addresses Evaluated):</a:t>
            </a:r>
          </a:p>
          <a:p>
            <a:pPr algn="just">
              <a:lnSpc>
                <a:spcPct val="100000"/>
              </a:lnSpc>
              <a:spcBef>
                <a:spcPct val="0"/>
              </a:spcBef>
            </a:pPr>
            <a:endParaRPr lang="en-US" sz="3200" b="1" dirty="0"/>
          </a:p>
          <a:p>
            <a:pPr marL="342900" indent="-342900" algn="just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b="1" dirty="0"/>
              <a:t>73.6% Visit</a:t>
            </a:r>
            <a:r>
              <a:rPr lang="en-US" sz="3200" dirty="0"/>
              <a:t> (Valid &amp; occupied) | </a:t>
            </a:r>
            <a:r>
              <a:rPr lang="en-US" sz="3200" b="1" dirty="0"/>
              <a:t>15.3% Change visit time</a:t>
            </a:r>
            <a:r>
              <a:rPr lang="en-US" sz="3200" dirty="0"/>
              <a:t> (Premises locked/family met) | </a:t>
            </a:r>
            <a:r>
              <a:rPr lang="en-US" sz="3200" b="1" dirty="0"/>
              <a:t>7.5% Resolve geocode (PS3)</a:t>
            </a:r>
            <a:r>
              <a:rPr lang="en-US" sz="3200" dirty="0"/>
              <a:t> (Location hard to find) | </a:t>
            </a:r>
            <a:r>
              <a:rPr lang="en-US" sz="3200" b="1" dirty="0"/>
              <a:t>3.5% Trace new address</a:t>
            </a:r>
            <a:r>
              <a:rPr lang="en-US" sz="3200" dirty="0"/>
              <a:t> (Borrower moved).</a:t>
            </a:r>
            <a:endParaRPr lang="en-US" sz="3200" dirty="0">
              <a:solidFill>
                <a:srgbClr val="FCFCF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2FCBCEF8-475B-149E-4D0E-B8E41E5322C9}"/>
              </a:ext>
            </a:extLst>
          </p:cNvPr>
          <p:cNvSpPr txBox="1"/>
          <p:nvPr/>
        </p:nvSpPr>
        <p:spPr>
          <a:xfrm>
            <a:off x="1905000" y="537202"/>
            <a:ext cx="13792200" cy="677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Baskerville Old Face" panose="02020602080505020303" pitchFamily="18" charset="0"/>
              </a:rPr>
              <a:t>Policy Engine &amp; Multi-Channel </a:t>
            </a:r>
            <a:r>
              <a:rPr lang="en-US" sz="4400" b="1" dirty="0">
                <a:latin typeface="Baskerville Old Face" panose="02020602080505020303" pitchFamily="18" charset="0"/>
              </a:rPr>
              <a:t>Operations (Tele &amp; Field):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834513" y="6896100"/>
            <a:ext cx="17148687" cy="295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Bauhaus 93" panose="04030905020B02020C02" pitchFamily="82" charset="0"/>
              </a:rPr>
              <a:t>Value of Information (VoI) Skip-Trace Optimization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4981BF4-8A32-3F41-5088-B9993EF83E3E}"/>
                  </a:ext>
                </a:extLst>
              </p:cNvPr>
              <p:cNvSpPr txBox="1"/>
              <p:nvPr/>
            </p:nvSpPr>
            <p:spPr>
              <a:xfrm>
                <a:off x="594287" y="952500"/>
                <a:ext cx="1709942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>
                    <a:solidFill>
                      <a:srgbClr val="FFFF00"/>
                    </a:solidFill>
                  </a:rPr>
                  <a:t>Economic VoI Formulation:</a:t>
                </a:r>
                <a:r>
                  <a:rPr lang="en-US" sz="2800" dirty="0">
                    <a:solidFill>
                      <a:srgbClr val="FFFF00"/>
                    </a:solidFill>
                    <a:effectLst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2800">
                            <a:solidFill>
                              <a:srgbClr val="FFFF00"/>
                            </a:solidFill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800">
                            <a:solidFill>
                              <a:srgbClr val="FFFF00"/>
                            </a:solidFill>
                          </a:rPr>
                          <m:t>Net Value</m:t>
                        </m:r>
                      </m:e>
                    </m:d>
                    <m:r>
                      <a:rPr lang="en-US" sz="28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800">
                            <a:solidFill>
                              <a:srgbClr val="FFFF00"/>
                            </a:solidFill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800">
                            <a:solidFill>
                              <a:srgbClr val="FFFF00"/>
                            </a:solidFill>
                          </a:rPr>
                          <m:t>Hit</m:t>
                        </m:r>
                      </m:e>
                    </m:d>
                    <m:r>
                      <a:rPr lang="en-US" sz="28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800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800">
                            <a:solidFill>
                              <a:srgbClr val="FFFF00"/>
                            </a:solidFill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800">
                            <a:solidFill>
                              <a:srgbClr val="FFFF00"/>
                            </a:solidFill>
                          </a:rPr>
                          <m:t>RPC</m:t>
                        </m:r>
                        <m:r>
                          <a:rPr lang="en-US" sz="28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m:rPr>
                            <m:nor/>
                          </m:rPr>
                          <a:rPr lang="en-US" sz="2800">
                            <a:solidFill>
                              <a:srgbClr val="FFFF00"/>
                            </a:solidFill>
                          </a:rPr>
                          <m:t>Found</m:t>
                        </m:r>
                      </m:e>
                    </m:d>
                    <m:r>
                      <a:rPr lang="en-US" sz="28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sz="2800">
                            <a:solidFill>
                              <a:srgbClr val="FFFF00"/>
                            </a:solidFill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800">
                            <a:solidFill>
                              <a:srgbClr val="FFFF00"/>
                            </a:solidFill>
                          </a:rPr>
                          <m:t>Outstanding</m:t>
                        </m:r>
                        <m:r>
                          <a:rPr lang="en-US" sz="28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nor/>
                          </m:rPr>
                          <a:rPr lang="en-US" sz="2800">
                            <a:solidFill>
                              <a:srgbClr val="FFFF00"/>
                            </a:solidFill>
                          </a:rPr>
                          <m:t>Ability</m:t>
                        </m:r>
                        <m:r>
                          <a:rPr lang="en-US" sz="28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28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</m:d>
                    <m:r>
                      <a:rPr lang="en-US" sz="28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2800">
                            <a:solidFill>
                              <a:srgbClr val="FFFF00"/>
                            </a:solidFill>
                          </a:rPr>
                          <m:t>trace</m:t>
                        </m:r>
                      </m:sub>
                    </m:sSub>
                    <m:d>
                      <m:dPr>
                        <m:ctrlPr>
                          <a:rPr lang="en-US" sz="2800">
                            <a:solidFill>
                              <a:srgbClr val="FFFF00"/>
                            </a:solidFill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800">
                            <a:solidFill>
                              <a:srgbClr val="FFFF00"/>
                            </a:solidFill>
                          </a:rPr>
                          <m:t>₹</m:t>
                        </m:r>
                        <m:r>
                          <a:rPr lang="en-US" sz="28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89</m:t>
                        </m:r>
                      </m:e>
                    </m:d>
                  </m:oMath>
                </a14:m>
                <a:endParaRPr lang="en-US" sz="28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4981BF4-8A32-3F41-5088-B9993EF83E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287" y="952500"/>
                <a:ext cx="17099425" cy="523220"/>
              </a:xfrm>
              <a:prstGeom prst="rect">
                <a:avLst/>
              </a:prstGeom>
              <a:blipFill>
                <a:blip r:embed="rId2"/>
                <a:stretch>
                  <a:fillRect l="-713"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5F40289-9FDA-0AF7-6EFE-4892D81CC891}"/>
              </a:ext>
            </a:extLst>
          </p:cNvPr>
          <p:cNvSpPr txBox="1"/>
          <p:nvPr/>
        </p:nvSpPr>
        <p:spPr>
          <a:xfrm>
            <a:off x="990600" y="1943100"/>
            <a:ext cx="16038621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3600" b="1" dirty="0">
                <a:solidFill>
                  <a:schemeClr val="bg1"/>
                </a:solidFill>
              </a:rPr>
              <a:t>Multi-Channel Screening: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</a:p>
          <a:p>
            <a:pPr lvl="0"/>
            <a:endParaRPr lang="en-US" sz="3600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If an account has an active phone line, an avoiding phone reachable via WhatsApp, </a:t>
            </a:r>
          </a:p>
          <a:p>
            <a:pPr lvl="0"/>
            <a:r>
              <a:rPr lang="en-US" sz="3600" dirty="0">
                <a:solidFill>
                  <a:schemeClr val="bg1"/>
                </a:solidFill>
              </a:rPr>
              <a:t>   or a verified residential address, it is </a:t>
            </a:r>
            <a:r>
              <a:rPr lang="en-US" sz="3600" b="1" dirty="0">
                <a:solidFill>
                  <a:schemeClr val="bg1"/>
                </a:solidFill>
              </a:rPr>
              <a:t>disqualified from burning trace capital</a:t>
            </a:r>
            <a:r>
              <a:rPr lang="en-US" sz="3600" dirty="0">
                <a:solidFill>
                  <a:schemeClr val="bg1"/>
                </a:solidFill>
              </a:rPr>
              <a:t>.</a:t>
            </a:r>
          </a:p>
          <a:p>
            <a:pPr lvl="0"/>
            <a:endParaRPr lang="en-US" sz="3600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Screens out 2,000 low-priority accounts, saving </a:t>
            </a:r>
            <a:r>
              <a:rPr lang="en-US" sz="3600" b="1" dirty="0">
                <a:solidFill>
                  <a:schemeClr val="bg1"/>
                </a:solidFill>
              </a:rPr>
              <a:t>&gt;₹1.7 Lakhs</a:t>
            </a:r>
            <a:r>
              <a:rPr lang="en-US" sz="3600" dirty="0">
                <a:solidFill>
                  <a:schemeClr val="bg1"/>
                </a:solidFill>
              </a:rPr>
              <a:t> in vendor fees while </a:t>
            </a:r>
          </a:p>
          <a:p>
            <a:pPr lvl="0"/>
            <a:r>
              <a:rPr lang="en-US" sz="3600" dirty="0">
                <a:solidFill>
                  <a:schemeClr val="bg1"/>
                </a:solidFill>
              </a:rPr>
              <a:t>   isolating the </a:t>
            </a:r>
            <a:r>
              <a:rPr lang="en-US" sz="3600" b="1" dirty="0">
                <a:solidFill>
                  <a:schemeClr val="bg1"/>
                </a:solidFill>
              </a:rPr>
              <a:t>6 truly untraceable, high-balance accounts</a:t>
            </a:r>
            <a:r>
              <a:rPr lang="en-US" sz="3600" dirty="0">
                <a:solidFill>
                  <a:schemeClr val="bg1"/>
                </a:solidFill>
              </a:rPr>
              <a:t> with positive expected</a:t>
            </a:r>
          </a:p>
          <a:p>
            <a:pPr lvl="0"/>
            <a:r>
              <a:rPr lang="en-US" sz="3600" dirty="0">
                <a:solidFill>
                  <a:schemeClr val="bg1"/>
                </a:solidFill>
              </a:rPr>
              <a:t>    recovery.</a:t>
            </a:r>
          </a:p>
          <a:p>
            <a:endParaRPr lang="en-US" sz="3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51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46729" y="1028700"/>
            <a:ext cx="4414745" cy="5081923"/>
            <a:chOff x="0" y="0"/>
            <a:chExt cx="1293074" cy="14884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93074" cy="1488490"/>
            </a:xfrm>
            <a:custGeom>
              <a:avLst/>
              <a:gdLst/>
              <a:ahLst/>
              <a:cxnLst/>
              <a:rect l="l" t="t" r="r" b="b"/>
              <a:pathLst>
                <a:path w="1293074" h="1488490">
                  <a:moveTo>
                    <a:pt x="40334" y="0"/>
                  </a:moveTo>
                  <a:lnTo>
                    <a:pt x="1252740" y="0"/>
                  </a:lnTo>
                  <a:cubicBezTo>
                    <a:pt x="1275016" y="0"/>
                    <a:pt x="1293074" y="18058"/>
                    <a:pt x="1293074" y="40334"/>
                  </a:cubicBezTo>
                  <a:lnTo>
                    <a:pt x="1293074" y="1448156"/>
                  </a:lnTo>
                  <a:cubicBezTo>
                    <a:pt x="1293074" y="1458853"/>
                    <a:pt x="1288825" y="1469112"/>
                    <a:pt x="1281261" y="1476676"/>
                  </a:cubicBezTo>
                  <a:cubicBezTo>
                    <a:pt x="1273696" y="1484240"/>
                    <a:pt x="1263437" y="1488490"/>
                    <a:pt x="1252740" y="1488490"/>
                  </a:cubicBezTo>
                  <a:lnTo>
                    <a:pt x="40334" y="1488490"/>
                  </a:lnTo>
                  <a:cubicBezTo>
                    <a:pt x="18058" y="1488490"/>
                    <a:pt x="0" y="1470432"/>
                    <a:pt x="0" y="1448156"/>
                  </a:cubicBezTo>
                  <a:lnTo>
                    <a:pt x="0" y="40334"/>
                  </a:lnTo>
                  <a:cubicBezTo>
                    <a:pt x="0" y="29637"/>
                    <a:pt x="4249" y="19378"/>
                    <a:pt x="11814" y="11814"/>
                  </a:cubicBezTo>
                  <a:cubicBezTo>
                    <a:pt x="19378" y="4249"/>
                    <a:pt x="29637" y="0"/>
                    <a:pt x="40334" y="0"/>
                  </a:cubicBezTo>
                  <a:close/>
                </a:path>
              </a:pathLst>
            </a:custGeom>
            <a:solidFill>
              <a:srgbClr val="161616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1293074" cy="15646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026526" y="1028700"/>
            <a:ext cx="4414745" cy="5081923"/>
            <a:chOff x="0" y="0"/>
            <a:chExt cx="1293074" cy="14884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93074" cy="1488490"/>
            </a:xfrm>
            <a:custGeom>
              <a:avLst/>
              <a:gdLst/>
              <a:ahLst/>
              <a:cxnLst/>
              <a:rect l="l" t="t" r="r" b="b"/>
              <a:pathLst>
                <a:path w="1293074" h="1488490">
                  <a:moveTo>
                    <a:pt x="40334" y="0"/>
                  </a:moveTo>
                  <a:lnTo>
                    <a:pt x="1252740" y="0"/>
                  </a:lnTo>
                  <a:cubicBezTo>
                    <a:pt x="1275016" y="0"/>
                    <a:pt x="1293074" y="18058"/>
                    <a:pt x="1293074" y="40334"/>
                  </a:cubicBezTo>
                  <a:lnTo>
                    <a:pt x="1293074" y="1448156"/>
                  </a:lnTo>
                  <a:cubicBezTo>
                    <a:pt x="1293074" y="1458853"/>
                    <a:pt x="1288825" y="1469112"/>
                    <a:pt x="1281261" y="1476676"/>
                  </a:cubicBezTo>
                  <a:cubicBezTo>
                    <a:pt x="1273696" y="1484240"/>
                    <a:pt x="1263437" y="1488490"/>
                    <a:pt x="1252740" y="1488490"/>
                  </a:cubicBezTo>
                  <a:lnTo>
                    <a:pt x="40334" y="1488490"/>
                  </a:lnTo>
                  <a:cubicBezTo>
                    <a:pt x="18058" y="1488490"/>
                    <a:pt x="0" y="1470432"/>
                    <a:pt x="0" y="1448156"/>
                  </a:cubicBezTo>
                  <a:lnTo>
                    <a:pt x="0" y="40334"/>
                  </a:lnTo>
                  <a:cubicBezTo>
                    <a:pt x="0" y="29637"/>
                    <a:pt x="4249" y="19378"/>
                    <a:pt x="11814" y="11814"/>
                  </a:cubicBezTo>
                  <a:cubicBezTo>
                    <a:pt x="19378" y="4249"/>
                    <a:pt x="29637" y="0"/>
                    <a:pt x="40334" y="0"/>
                  </a:cubicBezTo>
                  <a:close/>
                </a:path>
              </a:pathLst>
            </a:custGeom>
            <a:solidFill>
              <a:srgbClr val="16161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76200"/>
              <a:ext cx="1293074" cy="15646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936627" y="1028700"/>
            <a:ext cx="4414745" cy="5081923"/>
            <a:chOff x="0" y="0"/>
            <a:chExt cx="1293074" cy="148849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93074" cy="1488490"/>
            </a:xfrm>
            <a:custGeom>
              <a:avLst/>
              <a:gdLst/>
              <a:ahLst/>
              <a:cxnLst/>
              <a:rect l="l" t="t" r="r" b="b"/>
              <a:pathLst>
                <a:path w="1293074" h="1488490">
                  <a:moveTo>
                    <a:pt x="40334" y="0"/>
                  </a:moveTo>
                  <a:lnTo>
                    <a:pt x="1252740" y="0"/>
                  </a:lnTo>
                  <a:cubicBezTo>
                    <a:pt x="1275016" y="0"/>
                    <a:pt x="1293074" y="18058"/>
                    <a:pt x="1293074" y="40334"/>
                  </a:cubicBezTo>
                  <a:lnTo>
                    <a:pt x="1293074" y="1448156"/>
                  </a:lnTo>
                  <a:cubicBezTo>
                    <a:pt x="1293074" y="1458853"/>
                    <a:pt x="1288825" y="1469112"/>
                    <a:pt x="1281261" y="1476676"/>
                  </a:cubicBezTo>
                  <a:cubicBezTo>
                    <a:pt x="1273696" y="1484240"/>
                    <a:pt x="1263437" y="1488490"/>
                    <a:pt x="1252740" y="1488490"/>
                  </a:cubicBezTo>
                  <a:lnTo>
                    <a:pt x="40334" y="1488490"/>
                  </a:lnTo>
                  <a:cubicBezTo>
                    <a:pt x="18058" y="1488490"/>
                    <a:pt x="0" y="1470432"/>
                    <a:pt x="0" y="1448156"/>
                  </a:cubicBezTo>
                  <a:lnTo>
                    <a:pt x="0" y="40334"/>
                  </a:lnTo>
                  <a:cubicBezTo>
                    <a:pt x="0" y="29637"/>
                    <a:pt x="4249" y="19378"/>
                    <a:pt x="11814" y="11814"/>
                  </a:cubicBezTo>
                  <a:cubicBezTo>
                    <a:pt x="19378" y="4249"/>
                    <a:pt x="29637" y="0"/>
                    <a:pt x="40334" y="0"/>
                  </a:cubicBezTo>
                  <a:close/>
                </a:path>
              </a:pathLst>
            </a:custGeom>
            <a:solidFill>
              <a:srgbClr val="16161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76200"/>
              <a:ext cx="1293074" cy="15646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762000" y="7260220"/>
            <a:ext cx="16978845" cy="4827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12"/>
              </a:lnSpc>
            </a:pPr>
            <a:r>
              <a:rPr lang="en-US" sz="21309" b="1" spc="-1832" dirty="0">
                <a:solidFill>
                  <a:srgbClr val="F0F0F0"/>
                </a:solidFill>
                <a:latin typeface="Poppins Heavy"/>
                <a:ea typeface="Poppins Heavy"/>
                <a:cs typeface="Poppins Heavy"/>
                <a:sym typeface="Poppins Heavy"/>
              </a:rPr>
              <a:t>BENCHMARK</a:t>
            </a:r>
          </a:p>
          <a:p>
            <a:pPr algn="ctr">
              <a:lnSpc>
                <a:spcPts val="18112"/>
              </a:lnSpc>
            </a:pPr>
            <a:endParaRPr lang="en-US" sz="21309" b="1" spc="-1832" dirty="0">
              <a:solidFill>
                <a:srgbClr val="F0F0F0"/>
              </a:solidFill>
              <a:latin typeface="Poppins Heavy"/>
              <a:ea typeface="Poppins Heavy"/>
              <a:cs typeface="Poppins Heavy"/>
              <a:sym typeface="Poppins Heavy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3632526-5E7E-28B1-742E-8465BE45B1DD}"/>
              </a:ext>
            </a:extLst>
          </p:cNvPr>
          <p:cNvSpPr txBox="1"/>
          <p:nvPr/>
        </p:nvSpPr>
        <p:spPr>
          <a:xfrm>
            <a:off x="8946364" y="8842801"/>
            <a:ext cx="86870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Financial ROI &amp; Regulatory Impact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B0710FA-BB52-FF83-91FC-840DF7A412B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1333500"/>
            <a:ext cx="3962406" cy="330200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CA24579B-1EDB-1622-5756-E631D1A6B12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8402" y="1309510"/>
            <a:ext cx="3991194" cy="332599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671B8CF2-900A-6ABE-8F62-C49DDCBD07C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32343" y="1333500"/>
            <a:ext cx="3898258" cy="2513189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30BADC66-C09E-3704-FB51-CAC3832EAAE0}"/>
              </a:ext>
            </a:extLst>
          </p:cNvPr>
          <p:cNvSpPr txBox="1"/>
          <p:nvPr/>
        </p:nvSpPr>
        <p:spPr>
          <a:xfrm>
            <a:off x="2052484" y="4885589"/>
            <a:ext cx="40447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+38.2% Borrower Contact Lift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Increased Right-Party Contacts from</a:t>
            </a:r>
          </a:p>
          <a:p>
            <a:r>
              <a:rPr lang="en-US" dirty="0">
                <a:solidFill>
                  <a:schemeClr val="bg1"/>
                </a:solidFill>
              </a:rPr>
              <a:t>  164.4 to 227.1 per 1,000 dial attempts.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6D91B23-F223-3917-220B-E2BB49D1FAD4}"/>
              </a:ext>
            </a:extLst>
          </p:cNvPr>
          <p:cNvSpPr txBox="1"/>
          <p:nvPr/>
        </p:nvSpPr>
        <p:spPr>
          <a:xfrm>
            <a:off x="7148402" y="4748638"/>
            <a:ext cx="422968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Fewer Wasted Calls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Reduced average attempts on dead or </a:t>
            </a:r>
          </a:p>
          <a:p>
            <a:r>
              <a:rPr lang="en-US" dirty="0">
                <a:solidFill>
                  <a:schemeClr val="bg1"/>
                </a:solidFill>
              </a:rPr>
              <a:t>  invalid numbers, improving dialer </a:t>
            </a:r>
          </a:p>
          <a:p>
            <a:r>
              <a:rPr lang="en-US" dirty="0">
                <a:solidFill>
                  <a:schemeClr val="bg1"/>
                </a:solidFill>
              </a:rPr>
              <a:t>  efficiency and lowering operational costs.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5B4CC6A-16B5-3104-5349-D1C00F1EF86F}"/>
              </a:ext>
            </a:extLst>
          </p:cNvPr>
          <p:cNvSpPr txBox="1"/>
          <p:nvPr/>
        </p:nvSpPr>
        <p:spPr>
          <a:xfrm>
            <a:off x="12238299" y="4054441"/>
            <a:ext cx="4229683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  Compliance-First Decisions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  Prescribed actions prioritize verified</a:t>
            </a:r>
          </a:p>
          <a:p>
            <a:r>
              <a:rPr lang="en-US" sz="2000" dirty="0">
                <a:solidFill>
                  <a:schemeClr val="bg1"/>
                </a:solidFill>
              </a:rPr>
              <a:t>  contacts, responsible follow-ups, and </a:t>
            </a:r>
          </a:p>
          <a:p>
            <a:r>
              <a:rPr lang="en-US" sz="2000" dirty="0">
                <a:solidFill>
                  <a:schemeClr val="bg1"/>
                </a:solidFill>
              </a:rPr>
              <a:t>  protection against third-party debt </a:t>
            </a:r>
          </a:p>
          <a:p>
            <a:r>
              <a:rPr lang="en-US" sz="2000" dirty="0">
                <a:solidFill>
                  <a:schemeClr val="bg1"/>
                </a:solidFill>
              </a:rPr>
              <a:t>  disclosures.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37" grpId="0"/>
      <p:bldP spid="38" grpId="0"/>
      <p:bldP spid="3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770F48-8FC9-DE85-C7FF-B7224BCE6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3">
            <a:extLst>
              <a:ext uri="{FF2B5EF4-FFF2-40B4-BE49-F238E27FC236}">
                <a16:creationId xmlns:a16="http://schemas.microsoft.com/office/drawing/2014/main" id="{EA4F8889-970E-0F42-6867-2106231F5ED5}"/>
              </a:ext>
            </a:extLst>
          </p:cNvPr>
          <p:cNvSpPr txBox="1"/>
          <p:nvPr/>
        </p:nvSpPr>
        <p:spPr>
          <a:xfrm>
            <a:off x="312175" y="2729922"/>
            <a:ext cx="16978845" cy="4827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12"/>
              </a:lnSpc>
            </a:pPr>
            <a:r>
              <a:rPr lang="en-US" sz="21309" b="1" spc="-1832" dirty="0">
                <a:solidFill>
                  <a:srgbClr val="F0F0F0"/>
                </a:solidFill>
                <a:latin typeface="Poppins Heavy"/>
                <a:ea typeface="Poppins Heavy"/>
                <a:cs typeface="Poppins Heavy"/>
                <a:sym typeface="Poppins Heavy"/>
              </a:rPr>
              <a:t>THANK</a:t>
            </a:r>
          </a:p>
          <a:p>
            <a:pPr algn="ctr">
              <a:lnSpc>
                <a:spcPts val="18112"/>
              </a:lnSpc>
            </a:pPr>
            <a:endParaRPr lang="en-US" sz="21309" b="1" spc="-1832" dirty="0">
              <a:solidFill>
                <a:srgbClr val="F0F0F0"/>
              </a:solidFill>
              <a:latin typeface="Poppins Heavy"/>
              <a:ea typeface="Poppins Heavy"/>
              <a:cs typeface="Poppins Heavy"/>
              <a:sym typeface="Poppins Heavy"/>
            </a:endParaRPr>
          </a:p>
        </p:txBody>
      </p:sp>
      <p:sp>
        <p:nvSpPr>
          <p:cNvPr id="5" name="TextBox 23">
            <a:extLst>
              <a:ext uri="{FF2B5EF4-FFF2-40B4-BE49-F238E27FC236}">
                <a16:creationId xmlns:a16="http://schemas.microsoft.com/office/drawing/2014/main" id="{4B805B9A-AAAB-D9AC-6508-CB4E27BD3D49}"/>
              </a:ext>
            </a:extLst>
          </p:cNvPr>
          <p:cNvSpPr txBox="1"/>
          <p:nvPr/>
        </p:nvSpPr>
        <p:spPr>
          <a:xfrm>
            <a:off x="31955" y="5015922"/>
            <a:ext cx="16978845" cy="4827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12"/>
              </a:lnSpc>
            </a:pPr>
            <a:r>
              <a:rPr lang="en-US" sz="21309" b="1" spc="-1832" dirty="0">
                <a:solidFill>
                  <a:srgbClr val="F0F0F0"/>
                </a:solidFill>
                <a:latin typeface="Showcard Gothic" panose="04020904020102020604" pitchFamily="82" charset="0"/>
                <a:ea typeface="Poppins Heavy"/>
                <a:cs typeface="Poppins Heavy"/>
                <a:sym typeface="Poppins Heavy"/>
              </a:rPr>
              <a:t>You</a:t>
            </a:r>
          </a:p>
          <a:p>
            <a:pPr algn="ctr">
              <a:lnSpc>
                <a:spcPts val="18112"/>
              </a:lnSpc>
            </a:pPr>
            <a:endParaRPr lang="en-US" sz="21309" b="1" spc="-1832" dirty="0">
              <a:solidFill>
                <a:srgbClr val="F0F0F0"/>
              </a:solidFill>
              <a:latin typeface="Showcard Gothic" panose="04020904020102020604" pitchFamily="82" charset="0"/>
              <a:ea typeface="Poppins Heavy"/>
              <a:cs typeface="Poppins Heavy"/>
              <a:sym typeface="Poppins Heavy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CD9546-B9D9-D008-7797-85862FA3EA7F}"/>
              </a:ext>
            </a:extLst>
          </p:cNvPr>
          <p:cNvSpPr txBox="1"/>
          <p:nvPr/>
        </p:nvSpPr>
        <p:spPr>
          <a:xfrm>
            <a:off x="7048997" y="6999357"/>
            <a:ext cx="4724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@DataGods_KGP</a:t>
            </a:r>
          </a:p>
        </p:txBody>
      </p:sp>
    </p:spTree>
    <p:extLst>
      <p:ext uri="{BB962C8B-B14F-4D97-AF65-F5344CB8AC3E}">
        <p14:creationId xmlns:p14="http://schemas.microsoft.com/office/powerpoint/2010/main" val="2063125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5" grpId="0"/>
      <p:bldP spid="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1107</Words>
  <Application>Microsoft Office PowerPoint</Application>
  <PresentationFormat>Custom</PresentationFormat>
  <Paragraphs>112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6" baseType="lpstr">
      <vt:lpstr>Arial</vt:lpstr>
      <vt:lpstr>Poppins Bold</vt:lpstr>
      <vt:lpstr>Bahnschrift Condensed</vt:lpstr>
      <vt:lpstr>Courier New</vt:lpstr>
      <vt:lpstr>Poppins</vt:lpstr>
      <vt:lpstr>Poppins Heavy</vt:lpstr>
      <vt:lpstr>Palatino Linotype</vt:lpstr>
      <vt:lpstr>Baskerville Old Face</vt:lpstr>
      <vt:lpstr>Wingdings</vt:lpstr>
      <vt:lpstr>Showcard Gothic</vt:lpstr>
      <vt:lpstr>Calibri</vt:lpstr>
      <vt:lpstr>Bauhaus 93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Anish X</cp:lastModifiedBy>
  <cp:revision>10</cp:revision>
  <dcterms:created xsi:type="dcterms:W3CDTF">2006-08-16T00:00:00Z</dcterms:created>
  <dcterms:modified xsi:type="dcterms:W3CDTF">2026-10-10T09:57:25Z</dcterms:modified>
  <dc:identifier>DAHXhjKuzgM</dc:identifier>
</cp:coreProperties>
</file>